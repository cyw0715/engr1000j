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Bold" panose="020B0704020202020204" pitchFamily="34" charset="0"/>
      <p:regular r:id="rId13"/>
      <p:bold r:id="rId14"/>
    </p:embeddedFont>
    <p:embeddedFont>
      <p:font typeface="Calibri (MS)" panose="02010600030101010101" charset="0"/>
      <p:regular r:id="rId15"/>
    </p:embeddedFont>
    <p:embeddedFont>
      <p:font typeface="Calibri (MS) Bold" panose="02010600030101010101" charset="0"/>
      <p:regular r:id="rId16"/>
    </p:embeddedFont>
    <p:embeddedFont>
      <p:font typeface="Calibri (MS) Italics" panose="02010600030101010101"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0372" autoAdjust="0"/>
  </p:normalViewPr>
  <p:slideViewPr>
    <p:cSldViewPr>
      <p:cViewPr varScale="1">
        <p:scale>
          <a:sx n="73" d="100"/>
          <a:sy n="73" d="100"/>
        </p:scale>
        <p:origin x="387"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we are Group Five, the Six Gentlemen from SJTU Global College. Today, we are very excited to present our technical pitch, focusing on advanced engineering subsystems designed for Mars exploration missions. We will walk you through five innovative concepts aimed at improving the survivability and efficiency of planetary landers and rovers in hostile space environments. Let us begin.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this slide, you can see an overview of the five specialized subsystems we have developed. We will first discuss our self-stabilizing landing platform, which uses active suspension. Next, we will cover our adaptive robotic arm gripper for specimen collection. Then, we will look at high-precision deep space thermal control. After that, we will introduce deployable micro communication relays, and finally, we will present our electrostatic dust removal device for solar panels. Each system solves a critical threat to mission success.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third concept is the Deep Space Thermal Control System. Explorers experience severe temperature variations in vacuum, alternating between direct sunlight and cryogenic shadows. Sensitive electronics will break outside narrow thermal boundaries. We need closed-loop thermal regulation with high-precision feedback. Our solution utilizes heaters, heat pipes, and multilayer insulation blankets. Using PID control, the system maintains the electronics bay temperature within a strict range of plus or minus one degree Celsius.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let us examine the Self-Stabilizing Landing Platform. Landing on uneven Martian slopes or rocky crater edges is extremely hazardous. Typical landers can easily tip over, causing structural failure or permanently trapping the rover inside. To address this need, our solution integrates active suspension with four telescopic legs and real-time IMU sensors. By applying parallel inverse kinematics, the legs dynamically adjust their lengths on touchdown to keep the main deck perfectly level, ensuring a safe rover deployment.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sixth concept is the Terrain-Adaptive Quadruped Rover with Active Suspension. Current planetary rovers utilize passive suspensions that are limited to low speeds and shallow slopes, and cannot react dynamically to obstacles. We need a mobility platform that can cross steep rocky terrain at high speed while keeping the chassis perfectly level. Our solution is a four-wheeled rover with independently actuated suspension hubs controlled by IMU feedback and cascade PID, allowing dynamic height adjustments.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is the Adaptive Robotic Arm Gripper. Traditional rigid metal clamps often crush delicate scientific samples, such as loose clay or crystals, and easily slip when grasping rounded rocks. We need a versatile, non-destructive grasping mechanism. Our solution is a 3D-printed soft robotic gripper using elastomeric fingers. Inspired by the Fin-Ray structure, the fingers adaptively bend and wrap around irregular geology specimens, maximizing contact area and ensuring a secure, gentle hold.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Fourth, we introduce the Deployable Communication Relays. Planetary obstacles like steep crater walls, mountains, and canyon formations block direct line-of-sight radio signals, leading to rover blackouts. We need a rapid way to bypass these obstacles. Our solution uses a pneumatic spring launcher to shoot micro spherical communication nodes onto high ground. These shock-absorbing spheres deploy antennas to form a multi-hop wireless bridge, restoring contact with the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let us look at the Electrostatic Solar Dust Remover. Dry, static-charged Martian dust particles cling to solar panels, blocking solar energy and depleting battery power over time. Mechanical wipers can scratch the glass cover. We need a non-contact cleaning system. Our solution embeds transparent electrodes inside the cover glass, applying high-voltage multi-phase voltage. This creates a traveling electric wave that levitates and sweeps dust off the panel edges with zero wear.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That concludes our presentation. On behalf of Group Five, thank you very much for your time and attention. We would be happy to answer any questions or receive comments you may have regarding these Mars exploration subsystems.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20206-ED88-AA15-8751-A44CC9D86A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1FFA8E-3813-7224-105A-7F2F858AB12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DE8E30B-D18D-62D8-074C-D36457D995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D698763-4969-941A-8181-256017215663}"/>
              </a:ext>
            </a:extLst>
          </p:cNvPr>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85469EA-36EA-E55C-BDA7-476BC8BBDCE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this slide, you can see an overview of the five specialized subsystems we have developed. We will first discuss our self-stabilizing landing platform, which uses active suspension. Next, we will cover our adaptive robotic arm gripper for specimen collection. Then, we will look at high-precision deep space thermal control. After that, we will introduce deployable micro communication relays, and finally, we will present our electrostatic dust removal device for solar panels. Each system solves a critical threat to mission success.</a:t>
            </a:r>
          </a:p>
        </p:txBody>
      </p:sp>
      <p:sp>
        <p:nvSpPr>
          <p:cNvPr id="6" name="Footer Placeholder 5">
            <a:extLst>
              <a:ext uri="{FF2B5EF4-FFF2-40B4-BE49-F238E27FC236}">
                <a16:creationId xmlns:a16="http://schemas.microsoft.com/office/drawing/2014/main" id="{22073D80-B22C-0E6E-A241-2835C31C779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F9C0333-5E7D-5FFC-1D91-540C064A1A8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0909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grpSp>
        <p:nvGrpSpPr>
          <p:cNvPr id="4" name="Group 4"/>
          <p:cNvGrpSpPr/>
          <p:nvPr/>
        </p:nvGrpSpPr>
        <p:grpSpPr>
          <a:xfrm>
            <a:off x="13552227" y="441589"/>
            <a:ext cx="4193276" cy="1000430"/>
            <a:chOff x="0" y="0"/>
            <a:chExt cx="5591035" cy="1333906"/>
          </a:xfrm>
        </p:grpSpPr>
        <p:sp>
          <p:nvSpPr>
            <p:cNvPr id="5" name="Freeform 5"/>
            <p:cNvSpPr/>
            <p:nvPr/>
          </p:nvSpPr>
          <p:spPr>
            <a:xfrm>
              <a:off x="0" y="0"/>
              <a:ext cx="5591048" cy="1333881"/>
            </a:xfrm>
            <a:custGeom>
              <a:avLst/>
              <a:gdLst/>
              <a:ahLst/>
              <a:cxnLst/>
              <a:rect l="l" t="t" r="r" b="b"/>
              <a:pathLst>
                <a:path w="5591048" h="1333881">
                  <a:moveTo>
                    <a:pt x="0" y="0"/>
                  </a:moveTo>
                  <a:lnTo>
                    <a:pt x="5591048" y="0"/>
                  </a:lnTo>
                  <a:lnTo>
                    <a:pt x="5591048" y="1333881"/>
                  </a:lnTo>
                  <a:lnTo>
                    <a:pt x="0" y="1333881"/>
                  </a:lnTo>
                  <a:lnTo>
                    <a:pt x="0" y="0"/>
                  </a:lnTo>
                  <a:close/>
                </a:path>
              </a:pathLst>
            </a:custGeom>
            <a:blipFill>
              <a:blip r:embed="rId3"/>
              <a:stretch>
                <a:fillRect b="-1"/>
              </a:stretch>
            </a:blipFill>
          </p:spPr>
        </p:sp>
      </p:grpSp>
      <p:grpSp>
        <p:nvGrpSpPr>
          <p:cNvPr id="6" name="Group 6"/>
          <p:cNvGrpSpPr/>
          <p:nvPr/>
        </p:nvGrpSpPr>
        <p:grpSpPr>
          <a:xfrm>
            <a:off x="503263" y="2338862"/>
            <a:ext cx="85725" cy="3429000"/>
            <a:chOff x="0" y="0"/>
            <a:chExt cx="114300" cy="4572000"/>
          </a:xfrm>
        </p:grpSpPr>
        <p:sp>
          <p:nvSpPr>
            <p:cNvPr id="7" name="Freeform 7"/>
            <p:cNvSpPr/>
            <p:nvPr/>
          </p:nvSpPr>
          <p:spPr>
            <a:xfrm>
              <a:off x="0" y="0"/>
              <a:ext cx="114300" cy="4572000"/>
            </a:xfrm>
            <a:custGeom>
              <a:avLst/>
              <a:gdLst/>
              <a:ahLst/>
              <a:cxnLst/>
              <a:rect l="l" t="t" r="r" b="b"/>
              <a:pathLst>
                <a:path w="114300" h="4572000">
                  <a:moveTo>
                    <a:pt x="0" y="57150"/>
                  </a:moveTo>
                  <a:cubicBezTo>
                    <a:pt x="0" y="25527"/>
                    <a:pt x="25527" y="0"/>
                    <a:pt x="57150" y="0"/>
                  </a:cubicBezTo>
                  <a:cubicBezTo>
                    <a:pt x="88773" y="0"/>
                    <a:pt x="114300" y="25527"/>
                    <a:pt x="114300" y="57150"/>
                  </a:cubicBezTo>
                  <a:lnTo>
                    <a:pt x="114300" y="4514850"/>
                  </a:lnTo>
                  <a:cubicBezTo>
                    <a:pt x="114300" y="4546473"/>
                    <a:pt x="88773" y="4572000"/>
                    <a:pt x="57150" y="4572000"/>
                  </a:cubicBezTo>
                  <a:cubicBezTo>
                    <a:pt x="25527" y="4572000"/>
                    <a:pt x="0" y="4546473"/>
                    <a:pt x="0" y="4514850"/>
                  </a:cubicBezTo>
                  <a:close/>
                </a:path>
              </a:pathLst>
            </a:custGeom>
            <a:solidFill>
              <a:srgbClr val="002B60"/>
            </a:solidFill>
          </p:spPr>
        </p:sp>
      </p:grpSp>
      <p:sp>
        <p:nvSpPr>
          <p:cNvPr id="8" name="TextBox 8"/>
          <p:cNvSpPr txBox="1"/>
          <p:nvPr/>
        </p:nvSpPr>
        <p:spPr>
          <a:xfrm>
            <a:off x="1138590" y="2408158"/>
            <a:ext cx="10264502" cy="1226820"/>
          </a:xfrm>
          <a:prstGeom prst="rect">
            <a:avLst/>
          </a:prstGeom>
        </p:spPr>
        <p:txBody>
          <a:bodyPr lIns="0" tIns="0" rIns="0" bIns="0" rtlCol="0" anchor="t">
            <a:spAutoFit/>
          </a:bodyPr>
          <a:lstStyle/>
          <a:p>
            <a:pPr algn="l">
              <a:lnSpc>
                <a:spcPts val="7020"/>
              </a:lnSpc>
            </a:pPr>
            <a:r>
              <a:rPr lang="en-US" sz="5850" b="1">
                <a:gradFill>
                  <a:gsLst>
                    <a:gs pos="0">
                      <a:srgbClr val="002B60">
                        <a:alpha val="100000"/>
                      </a:srgbClr>
                    </a:gs>
                    <a:gs pos="100000">
                      <a:srgbClr val="0070C0">
                        <a:alpha val="100000"/>
                      </a:srgbClr>
                    </a:gs>
                  </a:gsLst>
                  <a:lin ang="0"/>
                </a:gradFill>
                <a:latin typeface="Arial Bold"/>
                <a:ea typeface="Arial Bold"/>
                <a:cs typeface="Arial Bold"/>
                <a:sym typeface="Arial Bold"/>
              </a:rPr>
              <a:t>Advanced Subsystems for</a:t>
            </a:r>
          </a:p>
        </p:txBody>
      </p:sp>
      <p:sp>
        <p:nvSpPr>
          <p:cNvPr id="9" name="TextBox 9"/>
          <p:cNvSpPr txBox="1"/>
          <p:nvPr/>
        </p:nvSpPr>
        <p:spPr>
          <a:xfrm>
            <a:off x="1138590" y="3479481"/>
            <a:ext cx="8052930" cy="1226820"/>
          </a:xfrm>
          <a:prstGeom prst="rect">
            <a:avLst/>
          </a:prstGeom>
        </p:spPr>
        <p:txBody>
          <a:bodyPr lIns="0" tIns="0" rIns="0" bIns="0" rtlCol="0" anchor="t">
            <a:spAutoFit/>
          </a:bodyPr>
          <a:lstStyle/>
          <a:p>
            <a:pPr algn="l">
              <a:lnSpc>
                <a:spcPts val="7020"/>
              </a:lnSpc>
            </a:pPr>
            <a:r>
              <a:rPr lang="en-US" sz="5850" b="1">
                <a:gradFill>
                  <a:gsLst>
                    <a:gs pos="0">
                      <a:srgbClr val="002B60">
                        <a:alpha val="100000"/>
                      </a:srgbClr>
                    </a:gs>
                    <a:gs pos="100000">
                      <a:srgbClr val="0070C0">
                        <a:alpha val="100000"/>
                      </a:srgbClr>
                    </a:gs>
                  </a:gsLst>
                  <a:lin ang="0"/>
                </a:gradFill>
                <a:latin typeface="Arial Bold"/>
                <a:ea typeface="Arial Bold"/>
                <a:cs typeface="Arial Bold"/>
                <a:sym typeface="Arial Bold"/>
              </a:rPr>
              <a:t>Martian Exploration</a:t>
            </a:r>
          </a:p>
        </p:txBody>
      </p:sp>
      <p:sp>
        <p:nvSpPr>
          <p:cNvPr id="10" name="TextBox 10"/>
          <p:cNvSpPr txBox="1"/>
          <p:nvPr/>
        </p:nvSpPr>
        <p:spPr>
          <a:xfrm>
            <a:off x="1132875" y="4797028"/>
            <a:ext cx="10622757" cy="1019175"/>
          </a:xfrm>
          <a:prstGeom prst="rect">
            <a:avLst/>
          </a:prstGeom>
        </p:spPr>
        <p:txBody>
          <a:bodyPr lIns="0" tIns="0" rIns="0" bIns="0" rtlCol="0" anchor="t">
            <a:spAutoFit/>
          </a:bodyPr>
          <a:lstStyle/>
          <a:p>
            <a:pPr algn="l">
              <a:lnSpc>
                <a:spcPts val="3779"/>
              </a:lnSpc>
            </a:pPr>
            <a:r>
              <a:rPr lang="en-US" sz="3150" b="1">
                <a:solidFill>
                  <a:srgbClr val="0070C0"/>
                </a:solidFill>
                <a:latin typeface="Calibri (MS) Bold"/>
                <a:ea typeface="Calibri (MS) Bold"/>
                <a:cs typeface="Calibri (MS) Bold"/>
                <a:sym typeface="Calibri (MS) Bold"/>
              </a:rPr>
              <a:t>6 Innovative Engineering Concepts for Lander &amp; Rover Survivability</a:t>
            </a:r>
          </a:p>
        </p:txBody>
      </p:sp>
      <p:grpSp>
        <p:nvGrpSpPr>
          <p:cNvPr id="11" name="Group 11"/>
          <p:cNvGrpSpPr/>
          <p:nvPr/>
        </p:nvGrpSpPr>
        <p:grpSpPr>
          <a:xfrm>
            <a:off x="826037" y="6559153"/>
            <a:ext cx="7858125" cy="28575"/>
            <a:chOff x="0" y="0"/>
            <a:chExt cx="10477500" cy="38100"/>
          </a:xfrm>
        </p:grpSpPr>
        <p:sp>
          <p:nvSpPr>
            <p:cNvPr id="12" name="Freeform 12"/>
            <p:cNvSpPr/>
            <p:nvPr/>
          </p:nvSpPr>
          <p:spPr>
            <a:xfrm>
              <a:off x="0" y="0"/>
              <a:ext cx="10477500" cy="38100"/>
            </a:xfrm>
            <a:custGeom>
              <a:avLst/>
              <a:gdLst/>
              <a:ahLst/>
              <a:cxnLst/>
              <a:rect l="l" t="t" r="r" b="b"/>
              <a:pathLst>
                <a:path w="10477500" h="38100">
                  <a:moveTo>
                    <a:pt x="0" y="0"/>
                  </a:moveTo>
                  <a:lnTo>
                    <a:pt x="10477500" y="0"/>
                  </a:lnTo>
                  <a:lnTo>
                    <a:pt x="10477500" y="38100"/>
                  </a:lnTo>
                  <a:lnTo>
                    <a:pt x="0" y="38100"/>
                  </a:lnTo>
                  <a:close/>
                </a:path>
              </a:pathLst>
            </a:custGeom>
            <a:gradFill rotWithShape="1">
              <a:gsLst>
                <a:gs pos="0">
                  <a:srgbClr val="002B60">
                    <a:alpha val="100000"/>
                  </a:srgbClr>
                </a:gs>
                <a:gs pos="100000">
                  <a:srgbClr val="002B60">
                    <a:alpha val="0"/>
                  </a:srgbClr>
                </a:gs>
              </a:gsLst>
              <a:lin ang="0"/>
            </a:gradFill>
          </p:spPr>
        </p:sp>
      </p:grpSp>
      <p:grpSp>
        <p:nvGrpSpPr>
          <p:cNvPr id="13" name="Group 13"/>
          <p:cNvGrpSpPr/>
          <p:nvPr/>
        </p:nvGrpSpPr>
        <p:grpSpPr>
          <a:xfrm>
            <a:off x="11612642" y="2688565"/>
            <a:ext cx="5028038" cy="4929873"/>
            <a:chOff x="0" y="0"/>
            <a:chExt cx="6704051" cy="6573164"/>
          </a:xfrm>
        </p:grpSpPr>
        <p:sp>
          <p:nvSpPr>
            <p:cNvPr id="14" name="Freeform 14"/>
            <p:cNvSpPr/>
            <p:nvPr/>
          </p:nvSpPr>
          <p:spPr>
            <a:xfrm>
              <a:off x="0" y="0"/>
              <a:ext cx="6704076" cy="6573139"/>
            </a:xfrm>
            <a:custGeom>
              <a:avLst/>
              <a:gdLst/>
              <a:ahLst/>
              <a:cxnLst/>
              <a:rect l="l" t="t" r="r" b="b"/>
              <a:pathLst>
                <a:path w="6704076" h="6573139">
                  <a:moveTo>
                    <a:pt x="0" y="0"/>
                  </a:moveTo>
                  <a:lnTo>
                    <a:pt x="6704076" y="0"/>
                  </a:lnTo>
                  <a:lnTo>
                    <a:pt x="6704076" y="6573139"/>
                  </a:lnTo>
                  <a:lnTo>
                    <a:pt x="0" y="6573139"/>
                  </a:lnTo>
                  <a:lnTo>
                    <a:pt x="0" y="0"/>
                  </a:lnTo>
                  <a:close/>
                </a:path>
              </a:pathLst>
            </a:custGeom>
            <a:blipFill>
              <a:blip r:embed="rId4"/>
              <a:stretch>
                <a:fillRect/>
              </a:stretch>
            </a:blipFill>
          </p:spPr>
        </p:sp>
      </p:grpSp>
      <p:sp>
        <p:nvSpPr>
          <p:cNvPr id="15" name="TextBox 15"/>
          <p:cNvSpPr txBox="1"/>
          <p:nvPr/>
        </p:nvSpPr>
        <p:spPr>
          <a:xfrm>
            <a:off x="1138590" y="7892825"/>
            <a:ext cx="3622224" cy="504825"/>
          </a:xfrm>
          <a:prstGeom prst="rect">
            <a:avLst/>
          </a:prstGeom>
        </p:spPr>
        <p:txBody>
          <a:bodyPr lIns="0" tIns="0" rIns="0" bIns="0" rtlCol="0" anchor="t">
            <a:spAutoFit/>
          </a:bodyPr>
          <a:lstStyle/>
          <a:p>
            <a:pPr algn="l">
              <a:lnSpc>
                <a:spcPts val="3599"/>
              </a:lnSpc>
            </a:pPr>
            <a:r>
              <a:rPr lang="en-US" sz="2999" b="1">
                <a:solidFill>
                  <a:srgbClr val="242424"/>
                </a:solidFill>
                <a:latin typeface="Calibri (MS) Bold"/>
                <a:ea typeface="Calibri (MS) Bold"/>
                <a:cs typeface="Calibri (MS) Bold"/>
                <a:sym typeface="Calibri (MS) Bold"/>
              </a:rPr>
              <a:t>Presenter: Group 5</a:t>
            </a:r>
          </a:p>
        </p:txBody>
      </p:sp>
      <p:sp>
        <p:nvSpPr>
          <p:cNvPr id="16" name="TextBox 16"/>
          <p:cNvSpPr txBox="1"/>
          <p:nvPr/>
        </p:nvSpPr>
        <p:spPr>
          <a:xfrm>
            <a:off x="1132875" y="8448199"/>
            <a:ext cx="4945390" cy="504825"/>
          </a:xfrm>
          <a:prstGeom prst="rect">
            <a:avLst/>
          </a:prstGeom>
        </p:spPr>
        <p:txBody>
          <a:bodyPr lIns="0" tIns="0" rIns="0" bIns="0" rtlCol="0" anchor="t">
            <a:spAutoFit/>
          </a:bodyPr>
          <a:lstStyle/>
          <a:p>
            <a:pPr algn="l">
              <a:lnSpc>
                <a:spcPts val="3599"/>
              </a:lnSpc>
            </a:pPr>
            <a:r>
              <a:rPr lang="en-US" sz="2999" b="1">
                <a:solidFill>
                  <a:srgbClr val="242424"/>
                </a:solidFill>
                <a:latin typeface="Calibri (MS) Bold"/>
                <a:ea typeface="Calibri (MS) Bold"/>
                <a:cs typeface="Calibri (MS) Bold"/>
                <a:sym typeface="Calibri (MS) Bold"/>
              </a:rPr>
              <a:t>Group Name: six gentlemen</a:t>
            </a:r>
          </a:p>
        </p:txBody>
      </p:sp>
      <p:sp>
        <p:nvSpPr>
          <p:cNvPr id="17" name="TextBox 17"/>
          <p:cNvSpPr txBox="1"/>
          <p:nvPr/>
        </p:nvSpPr>
        <p:spPr>
          <a:xfrm>
            <a:off x="1132875" y="9020175"/>
            <a:ext cx="7468076" cy="428625"/>
          </a:xfrm>
          <a:prstGeom prst="rect">
            <a:avLst/>
          </a:prstGeom>
        </p:spPr>
        <p:txBody>
          <a:bodyPr lIns="0" tIns="0" rIns="0" bIns="0" rtlCol="0" anchor="t">
            <a:spAutoFit/>
          </a:bodyPr>
          <a:lstStyle/>
          <a:p>
            <a:pPr algn="l">
              <a:lnSpc>
                <a:spcPts val="3059"/>
              </a:lnSpc>
            </a:pPr>
            <a:r>
              <a:rPr lang="en-US" sz="2549">
                <a:solidFill>
                  <a:srgbClr val="5E6A75"/>
                </a:solidFill>
                <a:latin typeface="Calibri (MS)"/>
                <a:ea typeface="Calibri (MS)"/>
                <a:cs typeface="Calibri (MS)"/>
                <a:sym typeface="Calibri (MS)"/>
              </a:rPr>
              <a:t>SJTU Global College — Technical Communication Pitch</a:t>
            </a:r>
          </a:p>
        </p:txBody>
      </p:sp>
      <p:sp>
        <p:nvSpPr>
          <p:cNvPr id="18" name="TextBox 18"/>
          <p:cNvSpPr txBox="1"/>
          <p:nvPr/>
        </p:nvSpPr>
        <p:spPr>
          <a:xfrm>
            <a:off x="17347740" y="9597866"/>
            <a:ext cx="103013"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1</a:t>
            </a:r>
          </a:p>
        </p:txBody>
      </p:sp>
      <p:sp>
        <p:nvSpPr>
          <p:cNvPr id="19" name="TextBox 19"/>
          <p:cNvSpPr txBox="1"/>
          <p:nvPr/>
        </p:nvSpPr>
        <p:spPr>
          <a:xfrm>
            <a:off x="1132875" y="6813114"/>
            <a:ext cx="3622224" cy="952500"/>
          </a:xfrm>
          <a:prstGeom prst="rect">
            <a:avLst/>
          </a:prstGeom>
        </p:spPr>
        <p:txBody>
          <a:bodyPr lIns="0" tIns="0" rIns="0" bIns="0" rtlCol="0" anchor="t">
            <a:spAutoFit/>
          </a:bodyPr>
          <a:lstStyle/>
          <a:p>
            <a:pPr algn="l">
              <a:lnSpc>
                <a:spcPts val="3599"/>
              </a:lnSpc>
            </a:pPr>
            <a:r>
              <a:rPr lang="en-US" sz="2999" b="1">
                <a:solidFill>
                  <a:srgbClr val="242424"/>
                </a:solidFill>
                <a:latin typeface="Calibri (MS) Bold"/>
                <a:ea typeface="Calibri (MS) Bold"/>
                <a:cs typeface="Calibri (MS) Bold"/>
                <a:sym typeface="Calibri (MS) Bold"/>
              </a:rPr>
              <a:t>Course: ENGR1000J</a:t>
            </a:r>
          </a:p>
          <a:p>
            <a:pPr algn="l">
              <a:lnSpc>
                <a:spcPts val="3599"/>
              </a:lnSpc>
            </a:pPr>
            <a:endParaRPr lang="en-US" sz="2999" b="1">
              <a:solidFill>
                <a:srgbClr val="242424"/>
              </a:solidFill>
              <a:latin typeface="Calibri (MS) Bold"/>
              <a:ea typeface="Calibri (MS) Bold"/>
              <a:cs typeface="Calibri (MS) Bold"/>
              <a:sym typeface="Calibri (MS) Bold"/>
            </a:endParaRPr>
          </a:p>
        </p:txBody>
      </p:sp>
      <p:sp>
        <p:nvSpPr>
          <p:cNvPr id="20" name="TextBox 20"/>
          <p:cNvSpPr txBox="1"/>
          <p:nvPr/>
        </p:nvSpPr>
        <p:spPr>
          <a:xfrm>
            <a:off x="1132875" y="7337450"/>
            <a:ext cx="5653912" cy="504825"/>
          </a:xfrm>
          <a:prstGeom prst="rect">
            <a:avLst/>
          </a:prstGeom>
        </p:spPr>
        <p:txBody>
          <a:bodyPr lIns="0" tIns="0" rIns="0" bIns="0" rtlCol="0" anchor="t">
            <a:spAutoFit/>
          </a:bodyPr>
          <a:lstStyle/>
          <a:p>
            <a:pPr algn="l">
              <a:lnSpc>
                <a:spcPts val="3599"/>
              </a:lnSpc>
            </a:pPr>
            <a:r>
              <a:rPr lang="en-US" sz="2999" b="1">
                <a:solidFill>
                  <a:srgbClr val="242424"/>
                </a:solidFill>
                <a:latin typeface="Calibri (MS) Bold"/>
                <a:ea typeface="Calibri (MS) Bold"/>
                <a:cs typeface="Calibri (MS) Bold"/>
                <a:sym typeface="Calibri (MS) Bold"/>
              </a:rPr>
              <a:t>Instructor: Prof. Shen &amp; Prof. Wei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00100" y="557213"/>
            <a:ext cx="13251447"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Six Innovative Space Exploration Concepts</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3758653" y="369065"/>
            <a:ext cx="3968563" cy="946814"/>
            <a:chOff x="0" y="0"/>
            <a:chExt cx="5291417" cy="1262418"/>
          </a:xfrm>
        </p:grpSpPr>
        <p:sp>
          <p:nvSpPr>
            <p:cNvPr id="8" name="Freeform 8"/>
            <p:cNvSpPr/>
            <p:nvPr/>
          </p:nvSpPr>
          <p:spPr>
            <a:xfrm>
              <a:off x="0" y="0"/>
              <a:ext cx="5291455" cy="1262380"/>
            </a:xfrm>
            <a:custGeom>
              <a:avLst/>
              <a:gdLst/>
              <a:ahLst/>
              <a:cxnLst/>
              <a:rect l="l" t="t" r="r" b="b"/>
              <a:pathLst>
                <a:path w="5291455" h="1262380">
                  <a:moveTo>
                    <a:pt x="0" y="0"/>
                  </a:moveTo>
                  <a:lnTo>
                    <a:pt x="5291455" y="0"/>
                  </a:lnTo>
                  <a:lnTo>
                    <a:pt x="5291455" y="1262380"/>
                  </a:lnTo>
                  <a:lnTo>
                    <a:pt x="0" y="1262380"/>
                  </a:lnTo>
                  <a:lnTo>
                    <a:pt x="0" y="0"/>
                  </a:lnTo>
                  <a:close/>
                </a:path>
              </a:pathLst>
            </a:custGeom>
            <a:blipFill>
              <a:blip r:embed="rId4"/>
              <a:stretch>
                <a:fillRect b="-3"/>
              </a:stretch>
            </a:blipFill>
          </p:spPr>
        </p:sp>
      </p:grpSp>
      <p:grpSp>
        <p:nvGrpSpPr>
          <p:cNvPr id="9" name="Group 9"/>
          <p:cNvGrpSpPr/>
          <p:nvPr/>
        </p:nvGrpSpPr>
        <p:grpSpPr>
          <a:xfrm>
            <a:off x="857250" y="1714500"/>
            <a:ext cx="16573500" cy="714375"/>
            <a:chOff x="0" y="0"/>
            <a:chExt cx="22098000" cy="952500"/>
          </a:xfrm>
        </p:grpSpPr>
        <p:sp>
          <p:nvSpPr>
            <p:cNvPr id="10" name="Freeform 10"/>
            <p:cNvSpPr/>
            <p:nvPr/>
          </p:nvSpPr>
          <p:spPr>
            <a:xfrm>
              <a:off x="0" y="0"/>
              <a:ext cx="22098000" cy="952500"/>
            </a:xfrm>
            <a:custGeom>
              <a:avLst/>
              <a:gdLst/>
              <a:ahLst/>
              <a:cxnLst/>
              <a:rect l="l" t="t" r="r" b="b"/>
              <a:pathLst>
                <a:path w="22098000" h="952500">
                  <a:moveTo>
                    <a:pt x="0" y="114300"/>
                  </a:moveTo>
                  <a:cubicBezTo>
                    <a:pt x="0" y="51181"/>
                    <a:pt x="51181" y="0"/>
                    <a:pt x="114300" y="0"/>
                  </a:cubicBezTo>
                  <a:lnTo>
                    <a:pt x="21983700" y="0"/>
                  </a:lnTo>
                  <a:cubicBezTo>
                    <a:pt x="22046819" y="0"/>
                    <a:pt x="22098000" y="51181"/>
                    <a:pt x="22098000" y="114300"/>
                  </a:cubicBezTo>
                  <a:lnTo>
                    <a:pt x="22098000" y="838200"/>
                  </a:lnTo>
                  <a:cubicBezTo>
                    <a:pt x="22098000" y="901319"/>
                    <a:pt x="22046819" y="952500"/>
                    <a:pt x="21983700" y="952500"/>
                  </a:cubicBezTo>
                  <a:lnTo>
                    <a:pt x="114300" y="952500"/>
                  </a:lnTo>
                  <a:cubicBezTo>
                    <a:pt x="51181" y="952500"/>
                    <a:pt x="0" y="901319"/>
                    <a:pt x="0" y="838200"/>
                  </a:cubicBezTo>
                  <a:close/>
                </a:path>
              </a:pathLst>
            </a:custGeom>
            <a:solidFill>
              <a:srgbClr val="002B60">
                <a:alpha val="0"/>
              </a:srgbClr>
            </a:solidFill>
          </p:spPr>
        </p:sp>
      </p:grpSp>
      <p:sp>
        <p:nvSpPr>
          <p:cNvPr id="11" name="TextBox 11"/>
          <p:cNvSpPr txBox="1"/>
          <p:nvPr/>
        </p:nvSpPr>
        <p:spPr>
          <a:xfrm>
            <a:off x="1108710" y="1813560"/>
            <a:ext cx="19178864" cy="485775"/>
          </a:xfrm>
          <a:prstGeom prst="rect">
            <a:avLst/>
          </a:prstGeom>
        </p:spPr>
        <p:txBody>
          <a:bodyPr lIns="0" tIns="0" rIns="0" bIns="0" rtlCol="0" anchor="t">
            <a:spAutoFit/>
          </a:bodyPr>
          <a:lstStyle/>
          <a:p>
            <a:pPr algn="l">
              <a:lnSpc>
                <a:spcPts val="3359"/>
              </a:lnSpc>
            </a:pPr>
            <a:r>
              <a:rPr lang="en-US" sz="2799" b="1">
                <a:solidFill>
                  <a:srgbClr val="002B60"/>
                </a:solidFill>
                <a:latin typeface="Calibri (MS) Bold"/>
                <a:ea typeface="Calibri (MS) Bold"/>
                <a:cs typeface="Calibri (MS) Bold"/>
                <a:sym typeface="Calibri (MS) Bold"/>
              </a:rPr>
              <a:t>Overview: Five specialized subsystems engineered to address critical environmental challenges on Mars</a:t>
            </a:r>
          </a:p>
        </p:txBody>
      </p:sp>
      <p:sp>
        <p:nvSpPr>
          <p:cNvPr id="12" name="TextBox 12"/>
          <p:cNvSpPr txBox="1"/>
          <p:nvPr/>
        </p:nvSpPr>
        <p:spPr>
          <a:xfrm>
            <a:off x="1028700" y="4895850"/>
            <a:ext cx="7384780"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02 | Self-Stabilizing Landing Platform</a:t>
            </a:r>
          </a:p>
        </p:txBody>
      </p:sp>
      <p:sp>
        <p:nvSpPr>
          <p:cNvPr id="13" name="TextBox 13"/>
          <p:cNvSpPr txBox="1"/>
          <p:nvPr/>
        </p:nvSpPr>
        <p:spPr>
          <a:xfrm>
            <a:off x="1028700" y="5495925"/>
            <a:ext cx="7873384" cy="952500"/>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Active-leveling landing legs to prevent spacecraft tipping.</a:t>
            </a:r>
          </a:p>
        </p:txBody>
      </p:sp>
      <p:sp>
        <p:nvSpPr>
          <p:cNvPr id="14" name="TextBox 14"/>
          <p:cNvSpPr txBox="1"/>
          <p:nvPr/>
        </p:nvSpPr>
        <p:spPr>
          <a:xfrm>
            <a:off x="9445178" y="2857500"/>
            <a:ext cx="7362446" cy="504825"/>
          </a:xfrm>
          <a:prstGeom prst="rect">
            <a:avLst/>
          </a:prstGeom>
        </p:spPr>
        <p:txBody>
          <a:bodyPr lIns="0" tIns="0" rIns="0" bIns="0" rtlCol="0" anchor="t">
            <a:spAutoFit/>
          </a:bodyPr>
          <a:lstStyle/>
          <a:p>
            <a:pPr algn="l">
              <a:lnSpc>
                <a:spcPts val="3869"/>
              </a:lnSpc>
            </a:pPr>
            <a:r>
              <a:rPr lang="en-US" sz="3224" b="1" u="sng" dirty="0">
                <a:solidFill>
                  <a:srgbClr val="002B60"/>
                </a:solidFill>
                <a:latin typeface="Arial Bold"/>
                <a:ea typeface="Arial Bold"/>
                <a:cs typeface="Arial Bold"/>
                <a:sym typeface="Arial Bold"/>
              </a:rPr>
              <a:t>04 | Adaptive Robotic Arm Gripper</a:t>
            </a:r>
          </a:p>
        </p:txBody>
      </p:sp>
      <p:sp>
        <p:nvSpPr>
          <p:cNvPr id="15" name="TextBox 15"/>
          <p:cNvSpPr txBox="1"/>
          <p:nvPr/>
        </p:nvSpPr>
        <p:spPr>
          <a:xfrm>
            <a:off x="9544557" y="3437572"/>
            <a:ext cx="9303734" cy="504825"/>
          </a:xfrm>
          <a:prstGeom prst="rect">
            <a:avLst/>
          </a:prstGeom>
        </p:spPr>
        <p:txBody>
          <a:bodyPr lIns="0" tIns="0" rIns="0" bIns="0" rtlCol="0" anchor="t">
            <a:spAutoFit/>
          </a:bodyPr>
          <a:lstStyle/>
          <a:p>
            <a:pPr algn="l">
              <a:lnSpc>
                <a:spcPts val="3599"/>
              </a:lnSpc>
            </a:pPr>
            <a:r>
              <a:rPr lang="en-US" sz="2999" dirty="0">
                <a:solidFill>
                  <a:srgbClr val="242424"/>
                </a:solidFill>
                <a:latin typeface="Calibri (MS)"/>
                <a:ea typeface="Calibri (MS)"/>
                <a:cs typeface="Calibri (MS)"/>
                <a:sym typeface="Calibri (MS)"/>
              </a:rPr>
              <a:t>Soft-robotic claw conforming to irregular minerals.</a:t>
            </a:r>
          </a:p>
        </p:txBody>
      </p:sp>
      <p:sp>
        <p:nvSpPr>
          <p:cNvPr id="16" name="TextBox 16"/>
          <p:cNvSpPr txBox="1"/>
          <p:nvPr/>
        </p:nvSpPr>
        <p:spPr>
          <a:xfrm>
            <a:off x="1028700" y="2847022"/>
            <a:ext cx="8339158"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01 | Deep Space Thermal Control System</a:t>
            </a:r>
          </a:p>
        </p:txBody>
      </p:sp>
      <p:sp>
        <p:nvSpPr>
          <p:cNvPr id="17" name="TextBox 17"/>
          <p:cNvSpPr txBox="1"/>
          <p:nvPr/>
        </p:nvSpPr>
        <p:spPr>
          <a:xfrm>
            <a:off x="1028700" y="3466147"/>
            <a:ext cx="8835672" cy="952500"/>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Closed-loop PID loops maintaining internal instrumentation.</a:t>
            </a:r>
          </a:p>
        </p:txBody>
      </p:sp>
      <p:sp>
        <p:nvSpPr>
          <p:cNvPr id="18" name="TextBox 18"/>
          <p:cNvSpPr txBox="1"/>
          <p:nvPr/>
        </p:nvSpPr>
        <p:spPr>
          <a:xfrm>
            <a:off x="9445178" y="4881562"/>
            <a:ext cx="8892125"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05 | Deployable Communication Relays</a:t>
            </a:r>
          </a:p>
        </p:txBody>
      </p:sp>
      <p:sp>
        <p:nvSpPr>
          <p:cNvPr id="19" name="TextBox 19"/>
          <p:cNvSpPr txBox="1"/>
          <p:nvPr/>
        </p:nvSpPr>
        <p:spPr>
          <a:xfrm>
            <a:off x="9544557" y="5495925"/>
            <a:ext cx="9159716" cy="504825"/>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Micro launcher bridging signals over steep canyons.</a:t>
            </a:r>
          </a:p>
        </p:txBody>
      </p:sp>
      <p:sp>
        <p:nvSpPr>
          <p:cNvPr id="20" name="TextBox 20"/>
          <p:cNvSpPr txBox="1"/>
          <p:nvPr/>
        </p:nvSpPr>
        <p:spPr>
          <a:xfrm>
            <a:off x="1028700" y="6667500"/>
            <a:ext cx="7569079"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03 | Quadrupedal Wheeled Mars Rover</a:t>
            </a:r>
          </a:p>
        </p:txBody>
      </p:sp>
      <p:sp>
        <p:nvSpPr>
          <p:cNvPr id="21" name="TextBox 21"/>
          <p:cNvSpPr txBox="1"/>
          <p:nvPr/>
        </p:nvSpPr>
        <p:spPr>
          <a:xfrm>
            <a:off x="9544557" y="7477125"/>
            <a:ext cx="9393746" cy="504825"/>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Dynamic traveling electric fields clearing panel dust.</a:t>
            </a:r>
          </a:p>
        </p:txBody>
      </p:sp>
      <p:grpSp>
        <p:nvGrpSpPr>
          <p:cNvPr id="22" name="Group 22"/>
          <p:cNvGrpSpPr/>
          <p:nvPr/>
        </p:nvGrpSpPr>
        <p:grpSpPr>
          <a:xfrm>
            <a:off x="850106" y="9351169"/>
            <a:ext cx="16587788" cy="28575"/>
            <a:chOff x="0" y="0"/>
            <a:chExt cx="22117050" cy="38100"/>
          </a:xfrm>
        </p:grpSpPr>
        <p:sp>
          <p:nvSpPr>
            <p:cNvPr id="23" name="Freeform 23"/>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4" name="TextBox 24"/>
          <p:cNvSpPr txBox="1"/>
          <p:nvPr/>
        </p:nvSpPr>
        <p:spPr>
          <a:xfrm>
            <a:off x="837247" y="9569291"/>
            <a:ext cx="2834213"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5" name="TextBox 25"/>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2</a:t>
            </a:r>
          </a:p>
        </p:txBody>
      </p:sp>
      <p:sp>
        <p:nvSpPr>
          <p:cNvPr id="26" name="TextBox 26"/>
          <p:cNvSpPr txBox="1"/>
          <p:nvPr/>
        </p:nvSpPr>
        <p:spPr>
          <a:xfrm>
            <a:off x="9445178" y="6638925"/>
            <a:ext cx="7569079"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06 | Electrostatic Solar Dust Remover</a:t>
            </a:r>
          </a:p>
        </p:txBody>
      </p:sp>
      <p:sp>
        <p:nvSpPr>
          <p:cNvPr id="27" name="TextBox 27"/>
          <p:cNvSpPr txBox="1"/>
          <p:nvPr/>
        </p:nvSpPr>
        <p:spPr>
          <a:xfrm>
            <a:off x="1028700" y="7305675"/>
            <a:ext cx="8416478" cy="1847850"/>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A wheeled quadruped robot that keeps its body level on any terrain.</a:t>
            </a:r>
          </a:p>
          <a:p>
            <a:pPr algn="l">
              <a:lnSpc>
                <a:spcPts val="3599"/>
              </a:lnSpc>
            </a:pPr>
            <a:endParaRPr lang="en-US" sz="2999">
              <a:solidFill>
                <a:srgbClr val="242424"/>
              </a:solidFill>
              <a:latin typeface="Calibri (MS)"/>
              <a:ea typeface="Calibri (MS)"/>
              <a:cs typeface="Calibri (MS)"/>
              <a:sym typeface="Calibri (MS)"/>
            </a:endParaRPr>
          </a:p>
          <a:p>
            <a:pPr algn="l">
              <a:lnSpc>
                <a:spcPts val="3599"/>
              </a:lnSpc>
            </a:pPr>
            <a:endParaRPr lang="en-US" sz="2999">
              <a:solidFill>
                <a:srgbClr val="242424"/>
              </a:solidFill>
              <a:latin typeface="Calibri (MS)"/>
              <a:ea typeface="Calibri (MS)"/>
              <a:cs typeface="Calibri (MS)"/>
              <a:sym typeface="Calibri (MS)"/>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00100" y="557213"/>
            <a:ext cx="12117295"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01 | Deep Space Thermal Control System</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4072673" y="425768"/>
            <a:ext cx="3621853" cy="864098"/>
            <a:chOff x="0" y="0"/>
            <a:chExt cx="4829137" cy="1152131"/>
          </a:xfrm>
        </p:grpSpPr>
        <p:sp>
          <p:nvSpPr>
            <p:cNvPr id="8" name="Freeform 8"/>
            <p:cNvSpPr/>
            <p:nvPr/>
          </p:nvSpPr>
          <p:spPr>
            <a:xfrm>
              <a:off x="0" y="0"/>
              <a:ext cx="4829175" cy="1152144"/>
            </a:xfrm>
            <a:custGeom>
              <a:avLst/>
              <a:gdLst/>
              <a:ahLst/>
              <a:cxnLst/>
              <a:rect l="l" t="t" r="r" b="b"/>
              <a:pathLst>
                <a:path w="4829175" h="1152144">
                  <a:moveTo>
                    <a:pt x="0" y="0"/>
                  </a:moveTo>
                  <a:lnTo>
                    <a:pt x="4829175" y="0"/>
                  </a:lnTo>
                  <a:lnTo>
                    <a:pt x="4829175" y="1152144"/>
                  </a:lnTo>
                  <a:lnTo>
                    <a:pt x="0" y="1152144"/>
                  </a:lnTo>
                  <a:lnTo>
                    <a:pt x="0" y="0"/>
                  </a:lnTo>
                  <a:close/>
                </a:path>
              </a:pathLst>
            </a:custGeom>
            <a:blipFill>
              <a:blip r:embed="rId4"/>
              <a:stretch>
                <a:fillRect b="1"/>
              </a:stretch>
            </a:blipFill>
          </p:spPr>
        </p:sp>
      </p:grpSp>
      <p:sp>
        <p:nvSpPr>
          <p:cNvPr id="9" name="TextBox 9"/>
          <p:cNvSpPr txBox="1"/>
          <p:nvPr/>
        </p:nvSpPr>
        <p:spPr>
          <a:xfrm>
            <a:off x="800100" y="1506141"/>
            <a:ext cx="1998602"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Problem:</a:t>
            </a:r>
          </a:p>
        </p:txBody>
      </p:sp>
      <p:sp>
        <p:nvSpPr>
          <p:cNvPr id="10" name="TextBox 10"/>
          <p:cNvSpPr txBox="1"/>
          <p:nvPr/>
        </p:nvSpPr>
        <p:spPr>
          <a:xfrm>
            <a:off x="822960" y="2113598"/>
            <a:ext cx="790384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Extreme temperatures in deep space alternate between direct solar heat and cryogenic shadows, destroying delicate electronics.</a:t>
            </a:r>
          </a:p>
        </p:txBody>
      </p:sp>
      <p:sp>
        <p:nvSpPr>
          <p:cNvPr id="11" name="TextBox 11"/>
          <p:cNvSpPr txBox="1"/>
          <p:nvPr/>
        </p:nvSpPr>
        <p:spPr>
          <a:xfrm>
            <a:off x="850106" y="3815398"/>
            <a:ext cx="1292914"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Need:</a:t>
            </a:r>
          </a:p>
        </p:txBody>
      </p:sp>
      <p:sp>
        <p:nvSpPr>
          <p:cNvPr id="12" name="TextBox 12"/>
          <p:cNvSpPr txBox="1"/>
          <p:nvPr/>
        </p:nvSpPr>
        <p:spPr>
          <a:xfrm>
            <a:off x="800100" y="4467780"/>
            <a:ext cx="768096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 closed-loop thermal regulation system with high-precision control to maintain a constant internal temperature for instrumentation.</a:t>
            </a:r>
          </a:p>
        </p:txBody>
      </p:sp>
      <p:sp>
        <p:nvSpPr>
          <p:cNvPr id="13" name="TextBox 13"/>
          <p:cNvSpPr txBox="1"/>
          <p:nvPr/>
        </p:nvSpPr>
        <p:spPr>
          <a:xfrm>
            <a:off x="817245" y="6127274"/>
            <a:ext cx="2042703"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Solution:</a:t>
            </a:r>
          </a:p>
        </p:txBody>
      </p:sp>
      <p:sp>
        <p:nvSpPr>
          <p:cNvPr id="14" name="TextBox 14"/>
          <p:cNvSpPr txBox="1"/>
          <p:nvPr/>
        </p:nvSpPr>
        <p:spPr>
          <a:xfrm>
            <a:off x="822960" y="6929279"/>
            <a:ext cx="795528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PID-controlled loops combining heater patches, heatsinks, heat pipes, and insulation layers, achieving +/- 1 degree Celsius stability.</a:t>
            </a:r>
          </a:p>
        </p:txBody>
      </p:sp>
      <p:grpSp>
        <p:nvGrpSpPr>
          <p:cNvPr id="15" name="Group 15"/>
          <p:cNvGrpSpPr/>
          <p:nvPr/>
        </p:nvGrpSpPr>
        <p:grpSpPr>
          <a:xfrm>
            <a:off x="9694069" y="2050256"/>
            <a:ext cx="7758112" cy="5829300"/>
            <a:chOff x="0" y="0"/>
            <a:chExt cx="10344150" cy="7772400"/>
          </a:xfrm>
        </p:grpSpPr>
        <p:sp>
          <p:nvSpPr>
            <p:cNvPr id="16" name="Freeform 16"/>
            <p:cNvSpPr/>
            <p:nvPr/>
          </p:nvSpPr>
          <p:spPr>
            <a:xfrm>
              <a:off x="0" y="0"/>
              <a:ext cx="10344150" cy="7772400"/>
            </a:xfrm>
            <a:custGeom>
              <a:avLst/>
              <a:gdLst/>
              <a:ahLst/>
              <a:cxnLst/>
              <a:rect l="l" t="t" r="r" b="b"/>
              <a:pathLst>
                <a:path w="10344150" h="7772400">
                  <a:moveTo>
                    <a:pt x="0" y="248285"/>
                  </a:moveTo>
                  <a:cubicBezTo>
                    <a:pt x="0" y="111125"/>
                    <a:pt x="111125" y="0"/>
                    <a:pt x="248285" y="0"/>
                  </a:cubicBezTo>
                  <a:lnTo>
                    <a:pt x="10095865" y="0"/>
                  </a:lnTo>
                  <a:cubicBezTo>
                    <a:pt x="10233025" y="0"/>
                    <a:pt x="10344150" y="111125"/>
                    <a:pt x="10344150" y="248285"/>
                  </a:cubicBezTo>
                  <a:lnTo>
                    <a:pt x="10344150" y="7524115"/>
                  </a:lnTo>
                  <a:cubicBezTo>
                    <a:pt x="10344150" y="7661275"/>
                    <a:pt x="10233025" y="7772400"/>
                    <a:pt x="10095865" y="7772400"/>
                  </a:cubicBezTo>
                  <a:lnTo>
                    <a:pt x="248285" y="7772400"/>
                  </a:lnTo>
                  <a:cubicBezTo>
                    <a:pt x="111125" y="7772400"/>
                    <a:pt x="0" y="7661275"/>
                    <a:pt x="0" y="7524115"/>
                  </a:cubicBezTo>
                  <a:close/>
                </a:path>
              </a:pathLst>
            </a:custGeom>
            <a:blipFill>
              <a:blip r:embed="rId3">
                <a:alphaModFix amt="0"/>
              </a:blip>
              <a:stretch>
                <a:fillRect l="-46404" r="-46404"/>
              </a:stretch>
            </a:blipFill>
            <a:ln w="14288" cap="sq">
              <a:solidFill>
                <a:srgbClr val="E5E7EB"/>
              </a:solidFill>
              <a:prstDash val="solid"/>
              <a:miter/>
            </a:ln>
          </p:spPr>
        </p:sp>
      </p:grpSp>
      <p:grpSp>
        <p:nvGrpSpPr>
          <p:cNvPr id="17" name="Group 17"/>
          <p:cNvGrpSpPr/>
          <p:nvPr/>
        </p:nvGrpSpPr>
        <p:grpSpPr>
          <a:xfrm>
            <a:off x="9715500" y="2071688"/>
            <a:ext cx="7715250" cy="5786438"/>
            <a:chOff x="0" y="0"/>
            <a:chExt cx="10287000" cy="7715250"/>
          </a:xfrm>
        </p:grpSpPr>
        <p:sp>
          <p:nvSpPr>
            <p:cNvPr id="18" name="Freeform 18"/>
            <p:cNvSpPr/>
            <p:nvPr/>
          </p:nvSpPr>
          <p:spPr>
            <a:xfrm>
              <a:off x="0" y="0"/>
              <a:ext cx="10287000" cy="7715250"/>
            </a:xfrm>
            <a:custGeom>
              <a:avLst/>
              <a:gdLst/>
              <a:ahLst/>
              <a:cxnLst/>
              <a:rect l="l" t="t" r="r" b="b"/>
              <a:pathLst>
                <a:path w="10287000" h="7715250">
                  <a:moveTo>
                    <a:pt x="0" y="0"/>
                  </a:moveTo>
                  <a:lnTo>
                    <a:pt x="10287000" y="0"/>
                  </a:lnTo>
                  <a:lnTo>
                    <a:pt x="10287000" y="7715250"/>
                  </a:lnTo>
                  <a:lnTo>
                    <a:pt x="0" y="7715250"/>
                  </a:lnTo>
                  <a:lnTo>
                    <a:pt x="0" y="0"/>
                  </a:lnTo>
                  <a:close/>
                </a:path>
              </a:pathLst>
            </a:custGeom>
            <a:blipFill>
              <a:blip r:embed="rId5"/>
              <a:stretch>
                <a:fillRect/>
              </a:stretch>
            </a:blipFill>
          </p:spPr>
        </p:sp>
      </p:grpSp>
      <p:sp>
        <p:nvSpPr>
          <p:cNvPr id="19" name="TextBox 19"/>
          <p:cNvSpPr txBox="1"/>
          <p:nvPr/>
        </p:nvSpPr>
        <p:spPr>
          <a:xfrm>
            <a:off x="9695497" y="8069104"/>
            <a:ext cx="7756684" cy="790575"/>
          </a:xfrm>
          <a:prstGeom prst="rect">
            <a:avLst/>
          </a:prstGeom>
        </p:spPr>
        <p:txBody>
          <a:bodyPr lIns="0" tIns="0" rIns="0" bIns="0" rtlCol="0" anchor="t">
            <a:spAutoFit/>
          </a:bodyPr>
          <a:lstStyle/>
          <a:p>
            <a:pPr algn="l">
              <a:lnSpc>
                <a:spcPts val="2969"/>
              </a:lnSpc>
            </a:pPr>
            <a:r>
              <a:rPr lang="en-US" sz="2474" i="1">
                <a:solidFill>
                  <a:srgbClr val="5E6A75"/>
                </a:solidFill>
                <a:latin typeface="Calibri (MS) Italics"/>
                <a:ea typeface="Calibri (MS) Italics"/>
                <a:cs typeface="Calibri (MS) Italics"/>
                <a:sym typeface="Calibri (MS) Italics"/>
              </a:rPr>
              <a:t>Figure 1: High-precision thermal regulation system layout for deep space instrumentation cabinets.</a:t>
            </a:r>
          </a:p>
        </p:txBody>
      </p:sp>
      <p:grpSp>
        <p:nvGrpSpPr>
          <p:cNvPr id="20" name="Group 20"/>
          <p:cNvGrpSpPr/>
          <p:nvPr/>
        </p:nvGrpSpPr>
        <p:grpSpPr>
          <a:xfrm>
            <a:off x="850106" y="9351169"/>
            <a:ext cx="16587788" cy="28575"/>
            <a:chOff x="0" y="0"/>
            <a:chExt cx="22117050" cy="38100"/>
          </a:xfrm>
        </p:grpSpPr>
        <p:sp>
          <p:nvSpPr>
            <p:cNvPr id="21" name="Freeform 21"/>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2" name="TextBox 22"/>
          <p:cNvSpPr txBox="1"/>
          <p:nvPr/>
        </p:nvSpPr>
        <p:spPr>
          <a:xfrm>
            <a:off x="837247" y="9569291"/>
            <a:ext cx="2937083"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3" name="TextBox 23"/>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5</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00100" y="557213"/>
            <a:ext cx="11361201"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02 | Self-Stabilizing Landing Platform</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3729059" y="420053"/>
            <a:ext cx="3832689" cy="914400"/>
            <a:chOff x="0" y="0"/>
            <a:chExt cx="5110251" cy="1219200"/>
          </a:xfrm>
        </p:grpSpPr>
        <p:sp>
          <p:nvSpPr>
            <p:cNvPr id="8" name="Freeform 8"/>
            <p:cNvSpPr/>
            <p:nvPr/>
          </p:nvSpPr>
          <p:spPr>
            <a:xfrm>
              <a:off x="0" y="0"/>
              <a:ext cx="5110226" cy="1219200"/>
            </a:xfrm>
            <a:custGeom>
              <a:avLst/>
              <a:gdLst/>
              <a:ahLst/>
              <a:cxnLst/>
              <a:rect l="l" t="t" r="r" b="b"/>
              <a:pathLst>
                <a:path w="5110226" h="1219200">
                  <a:moveTo>
                    <a:pt x="0" y="0"/>
                  </a:moveTo>
                  <a:lnTo>
                    <a:pt x="5110226" y="0"/>
                  </a:lnTo>
                  <a:lnTo>
                    <a:pt x="5110226" y="1219200"/>
                  </a:lnTo>
                  <a:lnTo>
                    <a:pt x="0" y="1219200"/>
                  </a:lnTo>
                  <a:lnTo>
                    <a:pt x="0" y="0"/>
                  </a:lnTo>
                  <a:close/>
                </a:path>
              </a:pathLst>
            </a:custGeom>
            <a:blipFill>
              <a:blip r:embed="rId4"/>
              <a:stretch>
                <a:fillRect/>
              </a:stretch>
            </a:blipFill>
          </p:spPr>
        </p:sp>
      </p:grpSp>
      <p:sp>
        <p:nvSpPr>
          <p:cNvPr id="9" name="TextBox 9"/>
          <p:cNvSpPr txBox="1"/>
          <p:nvPr/>
        </p:nvSpPr>
        <p:spPr>
          <a:xfrm>
            <a:off x="817245" y="1641158"/>
            <a:ext cx="1998602"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Problem:</a:t>
            </a:r>
          </a:p>
        </p:txBody>
      </p:sp>
      <p:sp>
        <p:nvSpPr>
          <p:cNvPr id="10" name="TextBox 10"/>
          <p:cNvSpPr txBox="1"/>
          <p:nvPr/>
        </p:nvSpPr>
        <p:spPr>
          <a:xfrm>
            <a:off x="822960" y="2113598"/>
            <a:ext cx="759523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Landing on uneven slopes or crater rims tilts or tips over spacecraft, causing structural damage or blocking rover release.</a:t>
            </a:r>
          </a:p>
        </p:txBody>
      </p:sp>
      <p:sp>
        <p:nvSpPr>
          <p:cNvPr id="11" name="TextBox 11"/>
          <p:cNvSpPr txBox="1"/>
          <p:nvPr/>
        </p:nvSpPr>
        <p:spPr>
          <a:xfrm>
            <a:off x="817245" y="3946208"/>
            <a:ext cx="1292914"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Need:</a:t>
            </a:r>
          </a:p>
        </p:txBody>
      </p:sp>
      <p:sp>
        <p:nvSpPr>
          <p:cNvPr id="12" name="TextBox 12"/>
          <p:cNvSpPr txBox="1"/>
          <p:nvPr/>
        </p:nvSpPr>
        <p:spPr>
          <a:xfrm>
            <a:off x="800100" y="4510088"/>
            <a:ext cx="720090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An active self-leveling landing system to keep the main deck perfectly horizontal on highly uneven terrains.</a:t>
            </a:r>
          </a:p>
        </p:txBody>
      </p:sp>
      <p:sp>
        <p:nvSpPr>
          <p:cNvPr id="13" name="TextBox 13"/>
          <p:cNvSpPr txBox="1"/>
          <p:nvPr/>
        </p:nvSpPr>
        <p:spPr>
          <a:xfrm>
            <a:off x="817245" y="6339761"/>
            <a:ext cx="2042703"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Solution:</a:t>
            </a:r>
          </a:p>
        </p:txBody>
      </p:sp>
      <p:sp>
        <p:nvSpPr>
          <p:cNvPr id="14" name="TextBox 14"/>
          <p:cNvSpPr txBox="1"/>
          <p:nvPr/>
        </p:nvSpPr>
        <p:spPr>
          <a:xfrm>
            <a:off x="800100" y="7031037"/>
            <a:ext cx="749236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Active suspension with four telescopic legs, IMU sensors, and parallel inverse kinematics to level the landing platform.</a:t>
            </a:r>
          </a:p>
        </p:txBody>
      </p:sp>
      <p:grpSp>
        <p:nvGrpSpPr>
          <p:cNvPr id="15" name="Group 15"/>
          <p:cNvGrpSpPr/>
          <p:nvPr/>
        </p:nvGrpSpPr>
        <p:grpSpPr>
          <a:xfrm>
            <a:off x="9694069" y="2050256"/>
            <a:ext cx="7758112" cy="5829300"/>
            <a:chOff x="0" y="0"/>
            <a:chExt cx="10344150" cy="7772400"/>
          </a:xfrm>
        </p:grpSpPr>
        <p:sp>
          <p:nvSpPr>
            <p:cNvPr id="16" name="Freeform 16"/>
            <p:cNvSpPr/>
            <p:nvPr/>
          </p:nvSpPr>
          <p:spPr>
            <a:xfrm>
              <a:off x="0" y="0"/>
              <a:ext cx="10344150" cy="7772400"/>
            </a:xfrm>
            <a:custGeom>
              <a:avLst/>
              <a:gdLst/>
              <a:ahLst/>
              <a:cxnLst/>
              <a:rect l="l" t="t" r="r" b="b"/>
              <a:pathLst>
                <a:path w="10344150" h="7772400">
                  <a:moveTo>
                    <a:pt x="0" y="248285"/>
                  </a:moveTo>
                  <a:cubicBezTo>
                    <a:pt x="0" y="111125"/>
                    <a:pt x="111125" y="0"/>
                    <a:pt x="248285" y="0"/>
                  </a:cubicBezTo>
                  <a:lnTo>
                    <a:pt x="10095865" y="0"/>
                  </a:lnTo>
                  <a:cubicBezTo>
                    <a:pt x="10233025" y="0"/>
                    <a:pt x="10344150" y="111125"/>
                    <a:pt x="10344150" y="248285"/>
                  </a:cubicBezTo>
                  <a:lnTo>
                    <a:pt x="10344150" y="7524115"/>
                  </a:lnTo>
                  <a:cubicBezTo>
                    <a:pt x="10344150" y="7661275"/>
                    <a:pt x="10233025" y="7772400"/>
                    <a:pt x="10095865" y="7772400"/>
                  </a:cubicBezTo>
                  <a:lnTo>
                    <a:pt x="248285" y="7772400"/>
                  </a:lnTo>
                  <a:cubicBezTo>
                    <a:pt x="111125" y="7772400"/>
                    <a:pt x="0" y="7661275"/>
                    <a:pt x="0" y="7524115"/>
                  </a:cubicBezTo>
                  <a:close/>
                </a:path>
              </a:pathLst>
            </a:custGeom>
            <a:blipFill>
              <a:blip r:embed="rId3">
                <a:alphaModFix amt="0"/>
              </a:blip>
              <a:stretch>
                <a:fillRect l="-46404" r="-46404"/>
              </a:stretch>
            </a:blipFill>
            <a:ln w="14288" cap="sq">
              <a:solidFill>
                <a:srgbClr val="E5E7EB"/>
              </a:solidFill>
              <a:prstDash val="solid"/>
              <a:miter/>
            </a:ln>
          </p:spPr>
        </p:sp>
      </p:grpSp>
      <p:grpSp>
        <p:nvGrpSpPr>
          <p:cNvPr id="17" name="Group 17"/>
          <p:cNvGrpSpPr/>
          <p:nvPr/>
        </p:nvGrpSpPr>
        <p:grpSpPr>
          <a:xfrm>
            <a:off x="9715500" y="2071688"/>
            <a:ext cx="7715250" cy="5786438"/>
            <a:chOff x="0" y="0"/>
            <a:chExt cx="10287000" cy="7715250"/>
          </a:xfrm>
        </p:grpSpPr>
        <p:sp>
          <p:nvSpPr>
            <p:cNvPr id="18" name="Freeform 18"/>
            <p:cNvSpPr/>
            <p:nvPr/>
          </p:nvSpPr>
          <p:spPr>
            <a:xfrm>
              <a:off x="0" y="0"/>
              <a:ext cx="10287000" cy="7715250"/>
            </a:xfrm>
            <a:custGeom>
              <a:avLst/>
              <a:gdLst/>
              <a:ahLst/>
              <a:cxnLst/>
              <a:rect l="l" t="t" r="r" b="b"/>
              <a:pathLst>
                <a:path w="10287000" h="7715250">
                  <a:moveTo>
                    <a:pt x="0" y="0"/>
                  </a:moveTo>
                  <a:lnTo>
                    <a:pt x="10287000" y="0"/>
                  </a:lnTo>
                  <a:lnTo>
                    <a:pt x="10287000" y="7715250"/>
                  </a:lnTo>
                  <a:lnTo>
                    <a:pt x="0" y="7715250"/>
                  </a:lnTo>
                  <a:lnTo>
                    <a:pt x="0" y="0"/>
                  </a:lnTo>
                  <a:close/>
                </a:path>
              </a:pathLst>
            </a:custGeom>
            <a:blipFill>
              <a:blip r:embed="rId5"/>
              <a:stretch>
                <a:fillRect l="-16631" r="-16631"/>
              </a:stretch>
            </a:blipFill>
          </p:spPr>
        </p:sp>
      </p:grpSp>
      <p:sp>
        <p:nvSpPr>
          <p:cNvPr id="19" name="TextBox 19"/>
          <p:cNvSpPr txBox="1"/>
          <p:nvPr/>
        </p:nvSpPr>
        <p:spPr>
          <a:xfrm>
            <a:off x="9850003" y="8170863"/>
            <a:ext cx="7758112" cy="790575"/>
          </a:xfrm>
          <a:prstGeom prst="rect">
            <a:avLst/>
          </a:prstGeom>
        </p:spPr>
        <p:txBody>
          <a:bodyPr lIns="0" tIns="0" rIns="0" bIns="0" rtlCol="0" anchor="t">
            <a:spAutoFit/>
          </a:bodyPr>
          <a:lstStyle/>
          <a:p>
            <a:pPr algn="l">
              <a:lnSpc>
                <a:spcPts val="2969"/>
              </a:lnSpc>
            </a:pPr>
            <a:r>
              <a:rPr lang="en-US" sz="2474" i="1">
                <a:solidFill>
                  <a:srgbClr val="5E6A75"/>
                </a:solidFill>
                <a:latin typeface="Calibri (MS) Italics"/>
                <a:ea typeface="Calibri (MS) Italics"/>
                <a:cs typeface="Calibri (MS) Italics"/>
                <a:sym typeface="Calibri (MS) Italics"/>
              </a:rPr>
              <a:t>Figure 2: Concept design of the self-stabilizing lander utilizing active suspension on a steep Martian slope.</a:t>
            </a:r>
          </a:p>
        </p:txBody>
      </p:sp>
      <p:grpSp>
        <p:nvGrpSpPr>
          <p:cNvPr id="20" name="Group 20"/>
          <p:cNvGrpSpPr/>
          <p:nvPr/>
        </p:nvGrpSpPr>
        <p:grpSpPr>
          <a:xfrm>
            <a:off x="850106" y="9351169"/>
            <a:ext cx="16587788" cy="28575"/>
            <a:chOff x="0" y="0"/>
            <a:chExt cx="22117050" cy="38100"/>
          </a:xfrm>
        </p:grpSpPr>
        <p:sp>
          <p:nvSpPr>
            <p:cNvPr id="21" name="Freeform 21"/>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2" name="TextBox 22"/>
          <p:cNvSpPr txBox="1"/>
          <p:nvPr/>
        </p:nvSpPr>
        <p:spPr>
          <a:xfrm>
            <a:off x="837247" y="9569291"/>
            <a:ext cx="2834213"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3" name="TextBox 23"/>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3</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50106" y="775097"/>
            <a:ext cx="14766573"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03 | Quadrupedal Wheeled Mars Rover</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4045741" y="480649"/>
            <a:ext cx="3779023" cy="901601"/>
            <a:chOff x="0" y="0"/>
            <a:chExt cx="3238500" cy="772643"/>
          </a:xfrm>
        </p:grpSpPr>
        <p:sp>
          <p:nvSpPr>
            <p:cNvPr id="8" name="Freeform 8"/>
            <p:cNvSpPr/>
            <p:nvPr/>
          </p:nvSpPr>
          <p:spPr>
            <a:xfrm>
              <a:off x="0" y="0"/>
              <a:ext cx="3238500" cy="772668"/>
            </a:xfrm>
            <a:custGeom>
              <a:avLst/>
              <a:gdLst/>
              <a:ahLst/>
              <a:cxnLst/>
              <a:rect l="l" t="t" r="r" b="b"/>
              <a:pathLst>
                <a:path w="3238500" h="772668">
                  <a:moveTo>
                    <a:pt x="0" y="0"/>
                  </a:moveTo>
                  <a:lnTo>
                    <a:pt x="3238500" y="0"/>
                  </a:lnTo>
                  <a:lnTo>
                    <a:pt x="3238500" y="772668"/>
                  </a:lnTo>
                  <a:lnTo>
                    <a:pt x="0" y="772668"/>
                  </a:lnTo>
                  <a:lnTo>
                    <a:pt x="0" y="0"/>
                  </a:lnTo>
                  <a:close/>
                </a:path>
              </a:pathLst>
            </a:custGeom>
            <a:blipFill>
              <a:blip r:embed="rId4"/>
              <a:stretch>
                <a:fillRect b="3"/>
              </a:stretch>
            </a:blipFill>
          </p:spPr>
        </p:sp>
      </p:grpSp>
      <p:sp>
        <p:nvSpPr>
          <p:cNvPr id="9" name="TextBox 9"/>
          <p:cNvSpPr txBox="1"/>
          <p:nvPr/>
        </p:nvSpPr>
        <p:spPr>
          <a:xfrm>
            <a:off x="817245" y="1745635"/>
            <a:ext cx="1998602"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Problem:</a:t>
            </a:r>
          </a:p>
        </p:txBody>
      </p:sp>
      <p:sp>
        <p:nvSpPr>
          <p:cNvPr id="10" name="TextBox 10"/>
          <p:cNvSpPr txBox="1"/>
          <p:nvPr/>
        </p:nvSpPr>
        <p:spPr>
          <a:xfrm>
            <a:off x="850106" y="2273151"/>
            <a:ext cx="8246745" cy="155894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Traditional rovers easily get stuck on rugged Martian terrains, while pure walking robots consume too much energy on flat ground.</a:t>
            </a:r>
          </a:p>
        </p:txBody>
      </p:sp>
      <p:sp>
        <p:nvSpPr>
          <p:cNvPr id="11" name="TextBox 11"/>
          <p:cNvSpPr txBox="1"/>
          <p:nvPr/>
        </p:nvSpPr>
        <p:spPr>
          <a:xfrm>
            <a:off x="850106" y="4385965"/>
            <a:ext cx="1292914" cy="49530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Need:</a:t>
            </a:r>
          </a:p>
        </p:txBody>
      </p:sp>
      <p:sp>
        <p:nvSpPr>
          <p:cNvPr id="12" name="TextBox 12"/>
          <p:cNvSpPr txBox="1"/>
          <p:nvPr/>
        </p:nvSpPr>
        <p:spPr>
          <a:xfrm>
            <a:off x="850106" y="5013682"/>
            <a:ext cx="804100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Space explorers need a versatile, energy-efficient vehicle capable of maintaining absolute body stability across extreme and complex landscapes.</a:t>
            </a:r>
          </a:p>
        </p:txBody>
      </p:sp>
      <p:sp>
        <p:nvSpPr>
          <p:cNvPr id="13" name="TextBox 13"/>
          <p:cNvSpPr txBox="1"/>
          <p:nvPr/>
        </p:nvSpPr>
        <p:spPr>
          <a:xfrm>
            <a:off x="850106" y="6858357"/>
            <a:ext cx="2042703"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Solution:</a:t>
            </a:r>
          </a:p>
        </p:txBody>
      </p:sp>
      <p:sp>
        <p:nvSpPr>
          <p:cNvPr id="14" name="TextBox 14"/>
          <p:cNvSpPr txBox="1"/>
          <p:nvPr/>
        </p:nvSpPr>
        <p:spPr>
          <a:xfrm>
            <a:off x="850106" y="7524564"/>
            <a:ext cx="848677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We designed a quadrupedal robot equipped with wheels and gyroscope sensors that can adjust its legs to keep the main body perfectly level on any terrain. </a:t>
            </a:r>
          </a:p>
        </p:txBody>
      </p:sp>
      <p:grpSp>
        <p:nvGrpSpPr>
          <p:cNvPr id="15" name="Group 15"/>
          <p:cNvGrpSpPr/>
          <p:nvPr/>
        </p:nvGrpSpPr>
        <p:grpSpPr>
          <a:xfrm>
            <a:off x="9694069" y="2050256"/>
            <a:ext cx="7758112" cy="5829300"/>
            <a:chOff x="0" y="0"/>
            <a:chExt cx="10344150" cy="7772400"/>
          </a:xfrm>
        </p:grpSpPr>
        <p:sp>
          <p:nvSpPr>
            <p:cNvPr id="16" name="Freeform 16"/>
            <p:cNvSpPr/>
            <p:nvPr/>
          </p:nvSpPr>
          <p:spPr>
            <a:xfrm>
              <a:off x="0" y="0"/>
              <a:ext cx="10344150" cy="7772400"/>
            </a:xfrm>
            <a:custGeom>
              <a:avLst/>
              <a:gdLst/>
              <a:ahLst/>
              <a:cxnLst/>
              <a:rect l="l" t="t" r="r" b="b"/>
              <a:pathLst>
                <a:path w="10344150" h="7772400">
                  <a:moveTo>
                    <a:pt x="0" y="248285"/>
                  </a:moveTo>
                  <a:cubicBezTo>
                    <a:pt x="0" y="111125"/>
                    <a:pt x="111125" y="0"/>
                    <a:pt x="248285" y="0"/>
                  </a:cubicBezTo>
                  <a:lnTo>
                    <a:pt x="10095865" y="0"/>
                  </a:lnTo>
                  <a:cubicBezTo>
                    <a:pt x="10233025" y="0"/>
                    <a:pt x="10344150" y="111125"/>
                    <a:pt x="10344150" y="248285"/>
                  </a:cubicBezTo>
                  <a:lnTo>
                    <a:pt x="10344150" y="7524115"/>
                  </a:lnTo>
                  <a:cubicBezTo>
                    <a:pt x="10344150" y="7661275"/>
                    <a:pt x="10233025" y="7772400"/>
                    <a:pt x="10095865" y="7772400"/>
                  </a:cubicBezTo>
                  <a:lnTo>
                    <a:pt x="248285" y="7772400"/>
                  </a:lnTo>
                  <a:cubicBezTo>
                    <a:pt x="111125" y="7772400"/>
                    <a:pt x="0" y="7661275"/>
                    <a:pt x="0" y="7524115"/>
                  </a:cubicBezTo>
                  <a:close/>
                </a:path>
              </a:pathLst>
            </a:custGeom>
            <a:blipFill>
              <a:blip r:embed="rId3">
                <a:alphaModFix amt="0"/>
              </a:blip>
              <a:stretch>
                <a:fillRect l="-46404" r="-46404"/>
              </a:stretch>
            </a:blipFill>
            <a:ln w="14288" cap="sq">
              <a:solidFill>
                <a:srgbClr val="E5E7EB"/>
              </a:solidFill>
              <a:prstDash val="solid"/>
              <a:miter/>
            </a:ln>
          </p:spPr>
        </p:sp>
      </p:grpSp>
      <p:grpSp>
        <p:nvGrpSpPr>
          <p:cNvPr id="17" name="Group 17"/>
          <p:cNvGrpSpPr/>
          <p:nvPr/>
        </p:nvGrpSpPr>
        <p:grpSpPr>
          <a:xfrm>
            <a:off x="9336881" y="2071687"/>
            <a:ext cx="8487883" cy="6365912"/>
            <a:chOff x="0" y="0"/>
            <a:chExt cx="10287000" cy="7715250"/>
          </a:xfrm>
        </p:grpSpPr>
        <p:sp>
          <p:nvSpPr>
            <p:cNvPr id="18" name="Freeform 18"/>
            <p:cNvSpPr/>
            <p:nvPr/>
          </p:nvSpPr>
          <p:spPr>
            <a:xfrm>
              <a:off x="0" y="0"/>
              <a:ext cx="10287000" cy="7715250"/>
            </a:xfrm>
            <a:custGeom>
              <a:avLst/>
              <a:gdLst/>
              <a:ahLst/>
              <a:cxnLst/>
              <a:rect l="l" t="t" r="r" b="b"/>
              <a:pathLst>
                <a:path w="10287000" h="7715250">
                  <a:moveTo>
                    <a:pt x="0" y="0"/>
                  </a:moveTo>
                  <a:lnTo>
                    <a:pt x="10287000" y="0"/>
                  </a:lnTo>
                  <a:lnTo>
                    <a:pt x="10287000" y="7715250"/>
                  </a:lnTo>
                  <a:lnTo>
                    <a:pt x="0" y="7715250"/>
                  </a:lnTo>
                  <a:lnTo>
                    <a:pt x="0" y="0"/>
                  </a:lnTo>
                  <a:close/>
                </a:path>
              </a:pathLst>
            </a:custGeom>
            <a:blipFill>
              <a:blip r:embed="rId5"/>
              <a:stretch>
                <a:fillRect l="-60" r="-60"/>
              </a:stretch>
            </a:blipFill>
          </p:spPr>
        </p:sp>
      </p:grpSp>
      <p:sp>
        <p:nvSpPr>
          <p:cNvPr id="19" name="TextBox 19"/>
          <p:cNvSpPr txBox="1"/>
          <p:nvPr/>
        </p:nvSpPr>
        <p:spPr>
          <a:xfrm>
            <a:off x="9346406" y="8646319"/>
            <a:ext cx="7246468" cy="790575"/>
          </a:xfrm>
          <a:prstGeom prst="rect">
            <a:avLst/>
          </a:prstGeom>
        </p:spPr>
        <p:txBody>
          <a:bodyPr lIns="0" tIns="0" rIns="0" bIns="0" rtlCol="0" anchor="t">
            <a:spAutoFit/>
          </a:bodyPr>
          <a:lstStyle/>
          <a:p>
            <a:pPr algn="l">
              <a:lnSpc>
                <a:spcPts val="2969"/>
              </a:lnSpc>
            </a:pPr>
            <a:r>
              <a:rPr lang="en-US" sz="2474" i="1">
                <a:solidFill>
                  <a:srgbClr val="5E6A75"/>
                </a:solidFill>
                <a:latin typeface="Calibri (MS) Italics"/>
                <a:ea typeface="Calibri (MS) Italics"/>
                <a:cs typeface="Calibri (MS) Italics"/>
                <a:sym typeface="Calibri (MS) Italics"/>
              </a:rPr>
              <a:t>Figure 3: Active suspension rover adjusting wheel heights to keep the main chassis level on steep terrain.</a:t>
            </a:r>
          </a:p>
        </p:txBody>
      </p:sp>
      <p:grpSp>
        <p:nvGrpSpPr>
          <p:cNvPr id="20" name="Group 20"/>
          <p:cNvGrpSpPr/>
          <p:nvPr/>
        </p:nvGrpSpPr>
        <p:grpSpPr>
          <a:xfrm>
            <a:off x="850106" y="9351169"/>
            <a:ext cx="16587788" cy="28575"/>
            <a:chOff x="0" y="0"/>
            <a:chExt cx="22117050" cy="38100"/>
          </a:xfrm>
        </p:grpSpPr>
        <p:sp>
          <p:nvSpPr>
            <p:cNvPr id="21" name="Freeform 21"/>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2" name="TextBox 22"/>
          <p:cNvSpPr txBox="1"/>
          <p:nvPr/>
        </p:nvSpPr>
        <p:spPr>
          <a:xfrm>
            <a:off x="837247" y="9569291"/>
            <a:ext cx="3425716"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3" name="TextBox 23"/>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8</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00100" y="557213"/>
            <a:ext cx="10258568"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04 | Adaptive Robotic Arm Gripper</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3819622" y="410204"/>
            <a:ext cx="3832689" cy="914400"/>
            <a:chOff x="0" y="0"/>
            <a:chExt cx="5110251" cy="1219200"/>
          </a:xfrm>
        </p:grpSpPr>
        <p:sp>
          <p:nvSpPr>
            <p:cNvPr id="8" name="Freeform 8"/>
            <p:cNvSpPr/>
            <p:nvPr/>
          </p:nvSpPr>
          <p:spPr>
            <a:xfrm>
              <a:off x="0" y="0"/>
              <a:ext cx="5110226" cy="1219200"/>
            </a:xfrm>
            <a:custGeom>
              <a:avLst/>
              <a:gdLst/>
              <a:ahLst/>
              <a:cxnLst/>
              <a:rect l="l" t="t" r="r" b="b"/>
              <a:pathLst>
                <a:path w="5110226" h="1219200">
                  <a:moveTo>
                    <a:pt x="0" y="0"/>
                  </a:moveTo>
                  <a:lnTo>
                    <a:pt x="5110226" y="0"/>
                  </a:lnTo>
                  <a:lnTo>
                    <a:pt x="5110226" y="1219200"/>
                  </a:lnTo>
                  <a:lnTo>
                    <a:pt x="0" y="1219200"/>
                  </a:lnTo>
                  <a:lnTo>
                    <a:pt x="0" y="0"/>
                  </a:lnTo>
                  <a:close/>
                </a:path>
              </a:pathLst>
            </a:custGeom>
            <a:blipFill>
              <a:blip r:embed="rId4"/>
              <a:stretch>
                <a:fillRect/>
              </a:stretch>
            </a:blipFill>
          </p:spPr>
        </p:sp>
      </p:grpSp>
      <p:sp>
        <p:nvSpPr>
          <p:cNvPr id="9" name="TextBox 9"/>
          <p:cNvSpPr txBox="1"/>
          <p:nvPr/>
        </p:nvSpPr>
        <p:spPr>
          <a:xfrm>
            <a:off x="817245" y="1641158"/>
            <a:ext cx="1998602"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Problem:</a:t>
            </a:r>
          </a:p>
        </p:txBody>
      </p:sp>
      <p:sp>
        <p:nvSpPr>
          <p:cNvPr id="10" name="TextBox 10"/>
          <p:cNvSpPr txBox="1"/>
          <p:nvPr/>
        </p:nvSpPr>
        <p:spPr>
          <a:xfrm>
            <a:off x="800100" y="2244407"/>
            <a:ext cx="781812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Rigid metallic grippers crush fragile geological samples or slip when grasping irregular and smooth minerals.</a:t>
            </a:r>
          </a:p>
        </p:txBody>
      </p:sp>
      <p:sp>
        <p:nvSpPr>
          <p:cNvPr id="11" name="TextBox 11"/>
          <p:cNvSpPr txBox="1"/>
          <p:nvPr/>
        </p:nvSpPr>
        <p:spPr>
          <a:xfrm>
            <a:off x="846534" y="3917632"/>
            <a:ext cx="1292914"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Need:</a:t>
            </a:r>
          </a:p>
        </p:txBody>
      </p:sp>
      <p:sp>
        <p:nvSpPr>
          <p:cNvPr id="12" name="TextBox 12"/>
          <p:cNvSpPr txBox="1"/>
          <p:nvPr/>
        </p:nvSpPr>
        <p:spPr>
          <a:xfrm>
            <a:off x="800100" y="4510088"/>
            <a:ext cx="780097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 versatile, non-destructive gripping mechanism that conforms to various irregular shapes and sizes of geologic specimens.</a:t>
            </a:r>
          </a:p>
        </p:txBody>
      </p:sp>
      <p:sp>
        <p:nvSpPr>
          <p:cNvPr id="13" name="TextBox 13"/>
          <p:cNvSpPr txBox="1"/>
          <p:nvPr/>
        </p:nvSpPr>
        <p:spPr>
          <a:xfrm>
            <a:off x="822960" y="6250464"/>
            <a:ext cx="2042703"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Solution:</a:t>
            </a:r>
          </a:p>
        </p:txBody>
      </p:sp>
      <p:sp>
        <p:nvSpPr>
          <p:cNvPr id="14" name="TextBox 14"/>
          <p:cNvSpPr txBox="1"/>
          <p:nvPr/>
        </p:nvSpPr>
        <p:spPr>
          <a:xfrm>
            <a:off x="850106" y="7052469"/>
            <a:ext cx="792099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 3D-printed flexible soft gripper that uses elastomeric finger deformation to adaptively conform and securely grasp irregular samples.</a:t>
            </a:r>
          </a:p>
        </p:txBody>
      </p:sp>
      <p:grpSp>
        <p:nvGrpSpPr>
          <p:cNvPr id="15" name="Group 15"/>
          <p:cNvGrpSpPr/>
          <p:nvPr/>
        </p:nvGrpSpPr>
        <p:grpSpPr>
          <a:xfrm>
            <a:off x="9694069" y="2050256"/>
            <a:ext cx="7758112" cy="5829300"/>
            <a:chOff x="0" y="0"/>
            <a:chExt cx="10344150" cy="7772400"/>
          </a:xfrm>
        </p:grpSpPr>
        <p:sp>
          <p:nvSpPr>
            <p:cNvPr id="16" name="Freeform 16"/>
            <p:cNvSpPr/>
            <p:nvPr/>
          </p:nvSpPr>
          <p:spPr>
            <a:xfrm>
              <a:off x="0" y="0"/>
              <a:ext cx="10344150" cy="7772400"/>
            </a:xfrm>
            <a:custGeom>
              <a:avLst/>
              <a:gdLst/>
              <a:ahLst/>
              <a:cxnLst/>
              <a:rect l="l" t="t" r="r" b="b"/>
              <a:pathLst>
                <a:path w="10344150" h="7772400">
                  <a:moveTo>
                    <a:pt x="0" y="248285"/>
                  </a:moveTo>
                  <a:cubicBezTo>
                    <a:pt x="0" y="111125"/>
                    <a:pt x="111125" y="0"/>
                    <a:pt x="248285" y="0"/>
                  </a:cubicBezTo>
                  <a:lnTo>
                    <a:pt x="10095865" y="0"/>
                  </a:lnTo>
                  <a:cubicBezTo>
                    <a:pt x="10233025" y="0"/>
                    <a:pt x="10344150" y="111125"/>
                    <a:pt x="10344150" y="248285"/>
                  </a:cubicBezTo>
                  <a:lnTo>
                    <a:pt x="10344150" y="7524115"/>
                  </a:lnTo>
                  <a:cubicBezTo>
                    <a:pt x="10344150" y="7661275"/>
                    <a:pt x="10233025" y="7772400"/>
                    <a:pt x="10095865" y="7772400"/>
                  </a:cubicBezTo>
                  <a:lnTo>
                    <a:pt x="248285" y="7772400"/>
                  </a:lnTo>
                  <a:cubicBezTo>
                    <a:pt x="111125" y="7772400"/>
                    <a:pt x="0" y="7661275"/>
                    <a:pt x="0" y="7524115"/>
                  </a:cubicBezTo>
                  <a:close/>
                </a:path>
              </a:pathLst>
            </a:custGeom>
            <a:blipFill>
              <a:blip r:embed="rId3">
                <a:alphaModFix amt="0"/>
              </a:blip>
              <a:stretch>
                <a:fillRect l="-46404" r="-46404"/>
              </a:stretch>
            </a:blipFill>
            <a:ln w="14288" cap="sq">
              <a:solidFill>
                <a:srgbClr val="E5E7EB"/>
              </a:solidFill>
              <a:prstDash val="solid"/>
              <a:miter/>
            </a:ln>
          </p:spPr>
        </p:sp>
      </p:grpSp>
      <p:grpSp>
        <p:nvGrpSpPr>
          <p:cNvPr id="17" name="Group 17"/>
          <p:cNvGrpSpPr/>
          <p:nvPr/>
        </p:nvGrpSpPr>
        <p:grpSpPr>
          <a:xfrm>
            <a:off x="9715500" y="2071688"/>
            <a:ext cx="7715250" cy="5786438"/>
            <a:chOff x="0" y="0"/>
            <a:chExt cx="10287000" cy="7715250"/>
          </a:xfrm>
        </p:grpSpPr>
        <p:sp>
          <p:nvSpPr>
            <p:cNvPr id="18" name="Freeform 18"/>
            <p:cNvSpPr/>
            <p:nvPr/>
          </p:nvSpPr>
          <p:spPr>
            <a:xfrm>
              <a:off x="0" y="0"/>
              <a:ext cx="10287000" cy="7715250"/>
            </a:xfrm>
            <a:custGeom>
              <a:avLst/>
              <a:gdLst/>
              <a:ahLst/>
              <a:cxnLst/>
              <a:rect l="l" t="t" r="r" b="b"/>
              <a:pathLst>
                <a:path w="10287000" h="7715250">
                  <a:moveTo>
                    <a:pt x="0" y="0"/>
                  </a:moveTo>
                  <a:lnTo>
                    <a:pt x="10287000" y="0"/>
                  </a:lnTo>
                  <a:lnTo>
                    <a:pt x="10287000" y="7715250"/>
                  </a:lnTo>
                  <a:lnTo>
                    <a:pt x="0" y="7715250"/>
                  </a:lnTo>
                  <a:lnTo>
                    <a:pt x="0" y="0"/>
                  </a:lnTo>
                  <a:close/>
                </a:path>
              </a:pathLst>
            </a:custGeom>
            <a:blipFill>
              <a:blip r:embed="rId5"/>
              <a:stretch>
                <a:fillRect/>
              </a:stretch>
            </a:blipFill>
          </p:spPr>
        </p:sp>
      </p:grpSp>
      <p:sp>
        <p:nvSpPr>
          <p:cNvPr id="19" name="TextBox 19"/>
          <p:cNvSpPr txBox="1"/>
          <p:nvPr/>
        </p:nvSpPr>
        <p:spPr>
          <a:xfrm>
            <a:off x="9695498" y="8069104"/>
            <a:ext cx="7656873" cy="790575"/>
          </a:xfrm>
          <a:prstGeom prst="rect">
            <a:avLst/>
          </a:prstGeom>
        </p:spPr>
        <p:txBody>
          <a:bodyPr lIns="0" tIns="0" rIns="0" bIns="0" rtlCol="0" anchor="t">
            <a:spAutoFit/>
          </a:bodyPr>
          <a:lstStyle/>
          <a:p>
            <a:pPr algn="l">
              <a:lnSpc>
                <a:spcPts val="2969"/>
              </a:lnSpc>
            </a:pPr>
            <a:r>
              <a:rPr lang="en-US" sz="2474" i="1">
                <a:solidFill>
                  <a:srgbClr val="5E6A75"/>
                </a:solidFill>
                <a:latin typeface="Calibri (MS) Italics"/>
                <a:ea typeface="Calibri (MS) Italics"/>
                <a:cs typeface="Calibri (MS) Italics"/>
                <a:sym typeface="Calibri (MS) Italics"/>
              </a:rPr>
              <a:t>Figure 4: Soft robotic gripper utilizing the Fin-Ray structure to grasp irregular rock formations safely.</a:t>
            </a:r>
          </a:p>
        </p:txBody>
      </p:sp>
      <p:grpSp>
        <p:nvGrpSpPr>
          <p:cNvPr id="20" name="Group 20"/>
          <p:cNvGrpSpPr/>
          <p:nvPr/>
        </p:nvGrpSpPr>
        <p:grpSpPr>
          <a:xfrm>
            <a:off x="850106" y="9351169"/>
            <a:ext cx="16587788" cy="28575"/>
            <a:chOff x="0" y="0"/>
            <a:chExt cx="22117050" cy="38100"/>
          </a:xfrm>
        </p:grpSpPr>
        <p:sp>
          <p:nvSpPr>
            <p:cNvPr id="21" name="Freeform 21"/>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2" name="TextBox 22"/>
          <p:cNvSpPr txBox="1"/>
          <p:nvPr/>
        </p:nvSpPr>
        <p:spPr>
          <a:xfrm>
            <a:off x="822960" y="9569291"/>
            <a:ext cx="3117106"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3" name="TextBox 23"/>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4</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00100" y="557213"/>
            <a:ext cx="11266694"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05 | Deployable Communication Relays</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3825899" y="454704"/>
            <a:ext cx="3662001" cy="873671"/>
            <a:chOff x="0" y="0"/>
            <a:chExt cx="4882667" cy="1164895"/>
          </a:xfrm>
        </p:grpSpPr>
        <p:sp>
          <p:nvSpPr>
            <p:cNvPr id="8" name="Freeform 8"/>
            <p:cNvSpPr/>
            <p:nvPr/>
          </p:nvSpPr>
          <p:spPr>
            <a:xfrm>
              <a:off x="0" y="0"/>
              <a:ext cx="4882642" cy="1164844"/>
            </a:xfrm>
            <a:custGeom>
              <a:avLst/>
              <a:gdLst/>
              <a:ahLst/>
              <a:cxnLst/>
              <a:rect l="l" t="t" r="r" b="b"/>
              <a:pathLst>
                <a:path w="4882642" h="1164844">
                  <a:moveTo>
                    <a:pt x="0" y="0"/>
                  </a:moveTo>
                  <a:lnTo>
                    <a:pt x="4882642" y="0"/>
                  </a:lnTo>
                  <a:lnTo>
                    <a:pt x="4882642" y="1164844"/>
                  </a:lnTo>
                  <a:lnTo>
                    <a:pt x="0" y="1164844"/>
                  </a:lnTo>
                  <a:lnTo>
                    <a:pt x="0" y="0"/>
                  </a:lnTo>
                  <a:close/>
                </a:path>
              </a:pathLst>
            </a:custGeom>
            <a:blipFill>
              <a:blip r:embed="rId4"/>
              <a:stretch>
                <a:fillRect b="-4"/>
              </a:stretch>
            </a:blipFill>
          </p:spPr>
        </p:sp>
      </p:grpSp>
      <p:grpSp>
        <p:nvGrpSpPr>
          <p:cNvPr id="9" name="Group 9"/>
          <p:cNvGrpSpPr/>
          <p:nvPr/>
        </p:nvGrpSpPr>
        <p:grpSpPr>
          <a:xfrm>
            <a:off x="9694069" y="2050256"/>
            <a:ext cx="7758112" cy="5829300"/>
            <a:chOff x="0" y="0"/>
            <a:chExt cx="10344150" cy="7772400"/>
          </a:xfrm>
        </p:grpSpPr>
        <p:sp>
          <p:nvSpPr>
            <p:cNvPr id="10" name="Freeform 10"/>
            <p:cNvSpPr/>
            <p:nvPr/>
          </p:nvSpPr>
          <p:spPr>
            <a:xfrm>
              <a:off x="0" y="0"/>
              <a:ext cx="10344150" cy="7772400"/>
            </a:xfrm>
            <a:custGeom>
              <a:avLst/>
              <a:gdLst/>
              <a:ahLst/>
              <a:cxnLst/>
              <a:rect l="l" t="t" r="r" b="b"/>
              <a:pathLst>
                <a:path w="10344150" h="7772400">
                  <a:moveTo>
                    <a:pt x="0" y="248285"/>
                  </a:moveTo>
                  <a:cubicBezTo>
                    <a:pt x="0" y="111125"/>
                    <a:pt x="111125" y="0"/>
                    <a:pt x="248285" y="0"/>
                  </a:cubicBezTo>
                  <a:lnTo>
                    <a:pt x="10095865" y="0"/>
                  </a:lnTo>
                  <a:cubicBezTo>
                    <a:pt x="10233025" y="0"/>
                    <a:pt x="10344150" y="111125"/>
                    <a:pt x="10344150" y="248285"/>
                  </a:cubicBezTo>
                  <a:lnTo>
                    <a:pt x="10344150" y="7524115"/>
                  </a:lnTo>
                  <a:cubicBezTo>
                    <a:pt x="10344150" y="7661275"/>
                    <a:pt x="10233025" y="7772400"/>
                    <a:pt x="10095865" y="7772400"/>
                  </a:cubicBezTo>
                  <a:lnTo>
                    <a:pt x="248285" y="7772400"/>
                  </a:lnTo>
                  <a:cubicBezTo>
                    <a:pt x="111125" y="7772400"/>
                    <a:pt x="0" y="7661275"/>
                    <a:pt x="0" y="7524115"/>
                  </a:cubicBezTo>
                  <a:close/>
                </a:path>
              </a:pathLst>
            </a:custGeom>
            <a:blipFill>
              <a:blip r:embed="rId3">
                <a:alphaModFix amt="0"/>
              </a:blip>
              <a:stretch>
                <a:fillRect l="-46404" r="-46404"/>
              </a:stretch>
            </a:blipFill>
            <a:ln w="14288" cap="sq">
              <a:solidFill>
                <a:srgbClr val="E5E7EB"/>
              </a:solidFill>
              <a:prstDash val="solid"/>
              <a:miter/>
            </a:ln>
          </p:spPr>
        </p:sp>
      </p:grpSp>
      <p:grpSp>
        <p:nvGrpSpPr>
          <p:cNvPr id="11" name="Group 11"/>
          <p:cNvGrpSpPr/>
          <p:nvPr/>
        </p:nvGrpSpPr>
        <p:grpSpPr>
          <a:xfrm>
            <a:off x="9715500" y="2071688"/>
            <a:ext cx="7715250" cy="5786438"/>
            <a:chOff x="0" y="0"/>
            <a:chExt cx="10287000" cy="7715250"/>
          </a:xfrm>
        </p:grpSpPr>
        <p:sp>
          <p:nvSpPr>
            <p:cNvPr id="12" name="Freeform 12"/>
            <p:cNvSpPr/>
            <p:nvPr/>
          </p:nvSpPr>
          <p:spPr>
            <a:xfrm>
              <a:off x="0" y="0"/>
              <a:ext cx="10287000" cy="7715250"/>
            </a:xfrm>
            <a:custGeom>
              <a:avLst/>
              <a:gdLst/>
              <a:ahLst/>
              <a:cxnLst/>
              <a:rect l="l" t="t" r="r" b="b"/>
              <a:pathLst>
                <a:path w="10287000" h="7715250">
                  <a:moveTo>
                    <a:pt x="0" y="0"/>
                  </a:moveTo>
                  <a:lnTo>
                    <a:pt x="10287000" y="0"/>
                  </a:lnTo>
                  <a:lnTo>
                    <a:pt x="10287000" y="7715250"/>
                  </a:lnTo>
                  <a:lnTo>
                    <a:pt x="0" y="7715250"/>
                  </a:lnTo>
                  <a:lnTo>
                    <a:pt x="0" y="0"/>
                  </a:lnTo>
                  <a:close/>
                </a:path>
              </a:pathLst>
            </a:custGeom>
            <a:blipFill>
              <a:blip r:embed="rId5"/>
              <a:stretch>
                <a:fillRect l="-16631" r="-16631"/>
              </a:stretch>
            </a:blipFill>
          </p:spPr>
        </p:sp>
      </p:grpSp>
      <p:grpSp>
        <p:nvGrpSpPr>
          <p:cNvPr id="13" name="Group 13"/>
          <p:cNvGrpSpPr/>
          <p:nvPr/>
        </p:nvGrpSpPr>
        <p:grpSpPr>
          <a:xfrm>
            <a:off x="850106" y="9351169"/>
            <a:ext cx="16587788" cy="28575"/>
            <a:chOff x="0" y="0"/>
            <a:chExt cx="22117050" cy="38100"/>
          </a:xfrm>
        </p:grpSpPr>
        <p:sp>
          <p:nvSpPr>
            <p:cNvPr id="14" name="Freeform 14"/>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15" name="TextBox 15"/>
          <p:cNvSpPr txBox="1"/>
          <p:nvPr/>
        </p:nvSpPr>
        <p:spPr>
          <a:xfrm>
            <a:off x="817245" y="1641158"/>
            <a:ext cx="1998602"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Problem:</a:t>
            </a:r>
          </a:p>
        </p:txBody>
      </p:sp>
      <p:sp>
        <p:nvSpPr>
          <p:cNvPr id="16" name="TextBox 16"/>
          <p:cNvSpPr txBox="1"/>
          <p:nvPr/>
        </p:nvSpPr>
        <p:spPr>
          <a:xfrm>
            <a:off x="822960" y="2240280"/>
            <a:ext cx="836676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Martian terrain obstacles like craters, hills, and canyons block line-of-sight RF signals, causing rover communication blackouts.</a:t>
            </a:r>
          </a:p>
        </p:txBody>
      </p:sp>
      <p:sp>
        <p:nvSpPr>
          <p:cNvPr id="17" name="TextBox 17"/>
          <p:cNvSpPr txBox="1"/>
          <p:nvPr/>
        </p:nvSpPr>
        <p:spPr>
          <a:xfrm>
            <a:off x="850106" y="3815398"/>
            <a:ext cx="1292914"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Need:</a:t>
            </a:r>
          </a:p>
        </p:txBody>
      </p:sp>
      <p:sp>
        <p:nvSpPr>
          <p:cNvPr id="18" name="TextBox 18"/>
          <p:cNvSpPr txBox="1"/>
          <p:nvPr/>
        </p:nvSpPr>
        <p:spPr>
          <a:xfrm>
            <a:off x="822960" y="4518660"/>
            <a:ext cx="855535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 rapid-deployment method to establish temporary signal bridges over large obstacles or challenging planetary topography.</a:t>
            </a:r>
          </a:p>
        </p:txBody>
      </p:sp>
      <p:sp>
        <p:nvSpPr>
          <p:cNvPr id="19" name="TextBox 19"/>
          <p:cNvSpPr txBox="1"/>
          <p:nvPr/>
        </p:nvSpPr>
        <p:spPr>
          <a:xfrm>
            <a:off x="817245" y="6229032"/>
            <a:ext cx="2042703"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Solution:</a:t>
            </a:r>
          </a:p>
        </p:txBody>
      </p:sp>
      <p:sp>
        <p:nvSpPr>
          <p:cNvPr id="20" name="TextBox 20"/>
          <p:cNvSpPr txBox="1"/>
          <p:nvPr/>
        </p:nvSpPr>
        <p:spPr>
          <a:xfrm>
            <a:off x="800100" y="7031037"/>
            <a:ext cx="881253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Rover-launched micro spherical relay nodes deployed via spring mechanism to bypass terrain barriers and restore signals.</a:t>
            </a:r>
          </a:p>
        </p:txBody>
      </p:sp>
      <p:sp>
        <p:nvSpPr>
          <p:cNvPr id="21" name="TextBox 21"/>
          <p:cNvSpPr txBox="1"/>
          <p:nvPr/>
        </p:nvSpPr>
        <p:spPr>
          <a:xfrm>
            <a:off x="9695498" y="8069104"/>
            <a:ext cx="7792403" cy="790575"/>
          </a:xfrm>
          <a:prstGeom prst="rect">
            <a:avLst/>
          </a:prstGeom>
        </p:spPr>
        <p:txBody>
          <a:bodyPr lIns="0" tIns="0" rIns="0" bIns="0" rtlCol="0" anchor="t">
            <a:spAutoFit/>
          </a:bodyPr>
          <a:lstStyle/>
          <a:p>
            <a:pPr algn="l">
              <a:lnSpc>
                <a:spcPts val="2969"/>
              </a:lnSpc>
            </a:pPr>
            <a:r>
              <a:rPr lang="en-US" sz="2474" i="1">
                <a:solidFill>
                  <a:srgbClr val="5E6A75"/>
                </a:solidFill>
                <a:latin typeface="Calibri (MS) Italics"/>
                <a:ea typeface="Calibri (MS) Italics"/>
                <a:cs typeface="Calibri (MS) Italics"/>
                <a:sym typeface="Calibri (MS) Italics"/>
              </a:rPr>
              <a:t>Figure 5: Active deployment of micro relay nodes to bridge line-of-sight wireless communication.</a:t>
            </a:r>
          </a:p>
        </p:txBody>
      </p:sp>
      <p:sp>
        <p:nvSpPr>
          <p:cNvPr id="22" name="TextBox 22"/>
          <p:cNvSpPr txBox="1"/>
          <p:nvPr/>
        </p:nvSpPr>
        <p:spPr>
          <a:xfrm>
            <a:off x="837247" y="9569291"/>
            <a:ext cx="2962800"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3" name="TextBox 23"/>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6</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p:cNvSpPr txBox="1"/>
          <p:nvPr/>
        </p:nvSpPr>
        <p:spPr>
          <a:xfrm>
            <a:off x="800100" y="557213"/>
            <a:ext cx="11644741"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06 | Electrostatic Solar Dust Remover</a:t>
            </a:r>
          </a:p>
        </p:txBody>
      </p:sp>
      <p:grpSp>
        <p:nvGrpSpPr>
          <p:cNvPr id="5" name="Group 5"/>
          <p:cNvGrpSpPr/>
          <p:nvPr/>
        </p:nvGrpSpPr>
        <p:grpSpPr>
          <a:xfrm>
            <a:off x="846534" y="1489472"/>
            <a:ext cx="16594931" cy="35719"/>
            <a:chOff x="0" y="0"/>
            <a:chExt cx="22126575" cy="47625"/>
          </a:xfrm>
        </p:grpSpPr>
        <p:sp>
          <p:nvSpPr>
            <p:cNvPr id="6" name="Freeform 6"/>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p:cNvGrpSpPr/>
          <p:nvPr/>
        </p:nvGrpSpPr>
        <p:grpSpPr>
          <a:xfrm>
            <a:off x="13931513" y="373199"/>
            <a:ext cx="3699700" cy="882672"/>
            <a:chOff x="0" y="0"/>
            <a:chExt cx="4932934" cy="1176896"/>
          </a:xfrm>
        </p:grpSpPr>
        <p:sp>
          <p:nvSpPr>
            <p:cNvPr id="8" name="Freeform 8"/>
            <p:cNvSpPr/>
            <p:nvPr/>
          </p:nvSpPr>
          <p:spPr>
            <a:xfrm>
              <a:off x="0" y="0"/>
              <a:ext cx="4932934" cy="1176909"/>
            </a:xfrm>
            <a:custGeom>
              <a:avLst/>
              <a:gdLst/>
              <a:ahLst/>
              <a:cxnLst/>
              <a:rect l="l" t="t" r="r" b="b"/>
              <a:pathLst>
                <a:path w="4932934" h="1176909">
                  <a:moveTo>
                    <a:pt x="0" y="0"/>
                  </a:moveTo>
                  <a:lnTo>
                    <a:pt x="4932934" y="0"/>
                  </a:lnTo>
                  <a:lnTo>
                    <a:pt x="4932934" y="1176909"/>
                  </a:lnTo>
                  <a:lnTo>
                    <a:pt x="0" y="1176909"/>
                  </a:lnTo>
                  <a:lnTo>
                    <a:pt x="0" y="0"/>
                  </a:lnTo>
                  <a:close/>
                </a:path>
              </a:pathLst>
            </a:custGeom>
            <a:blipFill>
              <a:blip r:embed="rId4"/>
              <a:stretch>
                <a:fillRect b="1"/>
              </a:stretch>
            </a:blipFill>
          </p:spPr>
        </p:sp>
      </p:grpSp>
      <p:sp>
        <p:nvSpPr>
          <p:cNvPr id="9" name="TextBox 9"/>
          <p:cNvSpPr txBox="1"/>
          <p:nvPr/>
        </p:nvSpPr>
        <p:spPr>
          <a:xfrm>
            <a:off x="817245" y="1641158"/>
            <a:ext cx="1998602"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Problem:</a:t>
            </a:r>
          </a:p>
        </p:txBody>
      </p:sp>
      <p:sp>
        <p:nvSpPr>
          <p:cNvPr id="10" name="TextBox 10"/>
          <p:cNvSpPr txBox="1"/>
          <p:nvPr/>
        </p:nvSpPr>
        <p:spPr>
          <a:xfrm>
            <a:off x="850106" y="2224722"/>
            <a:ext cx="8126730"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Fine Martian atmospheric dust deposits on solar panels, blocking sunlight and reducing power output over time.</a:t>
            </a:r>
          </a:p>
        </p:txBody>
      </p:sp>
      <p:sp>
        <p:nvSpPr>
          <p:cNvPr id="11" name="TextBox 11"/>
          <p:cNvSpPr txBox="1"/>
          <p:nvPr/>
        </p:nvSpPr>
        <p:spPr>
          <a:xfrm>
            <a:off x="846534" y="3897948"/>
            <a:ext cx="1292914"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Need:</a:t>
            </a:r>
          </a:p>
        </p:txBody>
      </p:sp>
      <p:sp>
        <p:nvSpPr>
          <p:cNvPr id="12" name="TextBox 12"/>
          <p:cNvSpPr txBox="1"/>
          <p:nvPr/>
        </p:nvSpPr>
        <p:spPr>
          <a:xfrm>
            <a:off x="800100" y="4510088"/>
            <a:ext cx="800671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A non-contact, wear-free cleaning system to remove dust without scratching panel surfaces or consuming limited fluids.</a:t>
            </a:r>
          </a:p>
        </p:txBody>
      </p:sp>
      <p:sp>
        <p:nvSpPr>
          <p:cNvPr id="13" name="TextBox 13"/>
          <p:cNvSpPr txBox="1"/>
          <p:nvPr/>
        </p:nvSpPr>
        <p:spPr>
          <a:xfrm>
            <a:off x="817245" y="6229032"/>
            <a:ext cx="2042703" cy="659130"/>
          </a:xfrm>
          <a:prstGeom prst="rect">
            <a:avLst/>
          </a:prstGeom>
        </p:spPr>
        <p:txBody>
          <a:bodyPr lIns="0" tIns="0" rIns="0" bIns="0" rtlCol="0" anchor="t">
            <a:spAutoFit/>
          </a:bodyPr>
          <a:lstStyle/>
          <a:p>
            <a:pPr algn="l">
              <a:lnSpc>
                <a:spcPts val="3779"/>
              </a:lnSpc>
            </a:pPr>
            <a:r>
              <a:rPr lang="en-US" sz="3150" b="1" u="sng">
                <a:solidFill>
                  <a:srgbClr val="002B60"/>
                </a:solidFill>
                <a:latin typeface="Arial Bold"/>
                <a:ea typeface="Arial Bold"/>
                <a:cs typeface="Arial Bold"/>
                <a:sym typeface="Arial Bold"/>
              </a:rPr>
              <a:t>Solution:</a:t>
            </a:r>
          </a:p>
        </p:txBody>
      </p:sp>
      <p:sp>
        <p:nvSpPr>
          <p:cNvPr id="14" name="TextBox 14"/>
          <p:cNvSpPr txBox="1"/>
          <p:nvPr/>
        </p:nvSpPr>
        <p:spPr>
          <a:xfrm>
            <a:off x="822960" y="7031037"/>
            <a:ext cx="8349615" cy="1558925"/>
          </a:xfrm>
          <a:prstGeom prst="rect">
            <a:avLst/>
          </a:prstGeom>
        </p:spPr>
        <p:txBody>
          <a:bodyPr lIns="0" tIns="0" rIns="0" bIns="0" rtlCol="0" anchor="t">
            <a:spAutoFit/>
          </a:bodyPr>
          <a:lstStyle/>
          <a:p>
            <a:pPr algn="l">
              <a:lnSpc>
                <a:spcPts val="3999"/>
              </a:lnSpc>
            </a:pPr>
            <a:r>
              <a:rPr lang="en-US" sz="2999">
                <a:solidFill>
                  <a:srgbClr val="242424"/>
                </a:solidFill>
                <a:latin typeface="Calibri (MS)"/>
                <a:ea typeface="Calibri (MS)"/>
                <a:cs typeface="Calibri (MS)"/>
                <a:sym typeface="Calibri (MS)"/>
              </a:rPr>
              <a:t>High-voltage electrostatic electrodes generating dynamic electric fields to lift and sweep away fine dust particles.</a:t>
            </a:r>
          </a:p>
        </p:txBody>
      </p:sp>
      <p:grpSp>
        <p:nvGrpSpPr>
          <p:cNvPr id="15" name="Group 15"/>
          <p:cNvGrpSpPr/>
          <p:nvPr/>
        </p:nvGrpSpPr>
        <p:grpSpPr>
          <a:xfrm>
            <a:off x="9694069" y="2050256"/>
            <a:ext cx="7758112" cy="5829300"/>
            <a:chOff x="0" y="0"/>
            <a:chExt cx="10344150" cy="7772400"/>
          </a:xfrm>
        </p:grpSpPr>
        <p:sp>
          <p:nvSpPr>
            <p:cNvPr id="16" name="Freeform 16"/>
            <p:cNvSpPr/>
            <p:nvPr/>
          </p:nvSpPr>
          <p:spPr>
            <a:xfrm>
              <a:off x="0" y="0"/>
              <a:ext cx="10344150" cy="7772400"/>
            </a:xfrm>
            <a:custGeom>
              <a:avLst/>
              <a:gdLst/>
              <a:ahLst/>
              <a:cxnLst/>
              <a:rect l="l" t="t" r="r" b="b"/>
              <a:pathLst>
                <a:path w="10344150" h="7772400">
                  <a:moveTo>
                    <a:pt x="0" y="248285"/>
                  </a:moveTo>
                  <a:cubicBezTo>
                    <a:pt x="0" y="111125"/>
                    <a:pt x="111125" y="0"/>
                    <a:pt x="248285" y="0"/>
                  </a:cubicBezTo>
                  <a:lnTo>
                    <a:pt x="10095865" y="0"/>
                  </a:lnTo>
                  <a:cubicBezTo>
                    <a:pt x="10233025" y="0"/>
                    <a:pt x="10344150" y="111125"/>
                    <a:pt x="10344150" y="248285"/>
                  </a:cubicBezTo>
                  <a:lnTo>
                    <a:pt x="10344150" y="7524115"/>
                  </a:lnTo>
                  <a:cubicBezTo>
                    <a:pt x="10344150" y="7661275"/>
                    <a:pt x="10233025" y="7772400"/>
                    <a:pt x="10095865" y="7772400"/>
                  </a:cubicBezTo>
                  <a:lnTo>
                    <a:pt x="248285" y="7772400"/>
                  </a:lnTo>
                  <a:cubicBezTo>
                    <a:pt x="111125" y="7772400"/>
                    <a:pt x="0" y="7661275"/>
                    <a:pt x="0" y="7524115"/>
                  </a:cubicBezTo>
                  <a:close/>
                </a:path>
              </a:pathLst>
            </a:custGeom>
            <a:blipFill>
              <a:blip r:embed="rId3">
                <a:alphaModFix amt="0"/>
              </a:blip>
              <a:stretch>
                <a:fillRect l="-46404" r="-46404"/>
              </a:stretch>
            </a:blipFill>
            <a:ln w="14288" cap="sq">
              <a:solidFill>
                <a:srgbClr val="E5E7EB"/>
              </a:solidFill>
              <a:prstDash val="solid"/>
              <a:miter/>
            </a:ln>
          </p:spPr>
        </p:sp>
      </p:grpSp>
      <p:grpSp>
        <p:nvGrpSpPr>
          <p:cNvPr id="17" name="Group 17"/>
          <p:cNvGrpSpPr/>
          <p:nvPr/>
        </p:nvGrpSpPr>
        <p:grpSpPr>
          <a:xfrm>
            <a:off x="9715500" y="2071688"/>
            <a:ext cx="7715250" cy="5786438"/>
            <a:chOff x="0" y="0"/>
            <a:chExt cx="10287000" cy="7715250"/>
          </a:xfrm>
        </p:grpSpPr>
        <p:sp>
          <p:nvSpPr>
            <p:cNvPr id="18" name="Freeform 18"/>
            <p:cNvSpPr/>
            <p:nvPr/>
          </p:nvSpPr>
          <p:spPr>
            <a:xfrm>
              <a:off x="0" y="0"/>
              <a:ext cx="10287000" cy="7715250"/>
            </a:xfrm>
            <a:custGeom>
              <a:avLst/>
              <a:gdLst/>
              <a:ahLst/>
              <a:cxnLst/>
              <a:rect l="l" t="t" r="r" b="b"/>
              <a:pathLst>
                <a:path w="10287000" h="7715250">
                  <a:moveTo>
                    <a:pt x="0" y="0"/>
                  </a:moveTo>
                  <a:lnTo>
                    <a:pt x="10287000" y="0"/>
                  </a:lnTo>
                  <a:lnTo>
                    <a:pt x="10287000" y="7715250"/>
                  </a:lnTo>
                  <a:lnTo>
                    <a:pt x="0" y="7715250"/>
                  </a:lnTo>
                  <a:lnTo>
                    <a:pt x="0" y="0"/>
                  </a:lnTo>
                  <a:close/>
                </a:path>
              </a:pathLst>
            </a:custGeom>
            <a:blipFill>
              <a:blip r:embed="rId5"/>
              <a:stretch>
                <a:fillRect/>
              </a:stretch>
            </a:blipFill>
          </p:spPr>
        </p:sp>
      </p:grpSp>
      <p:sp>
        <p:nvSpPr>
          <p:cNvPr id="19" name="TextBox 19"/>
          <p:cNvSpPr txBox="1"/>
          <p:nvPr/>
        </p:nvSpPr>
        <p:spPr>
          <a:xfrm>
            <a:off x="9695498" y="8069104"/>
            <a:ext cx="7935716" cy="790575"/>
          </a:xfrm>
          <a:prstGeom prst="rect">
            <a:avLst/>
          </a:prstGeom>
        </p:spPr>
        <p:txBody>
          <a:bodyPr lIns="0" tIns="0" rIns="0" bIns="0" rtlCol="0" anchor="t">
            <a:spAutoFit/>
          </a:bodyPr>
          <a:lstStyle/>
          <a:p>
            <a:pPr algn="l">
              <a:lnSpc>
                <a:spcPts val="2969"/>
              </a:lnSpc>
            </a:pPr>
            <a:r>
              <a:rPr lang="en-US" sz="2474" i="1">
                <a:solidFill>
                  <a:srgbClr val="5E6A75"/>
                </a:solidFill>
                <a:latin typeface="Calibri (MS) Italics"/>
                <a:ea typeface="Calibri (MS) Italics"/>
                <a:cs typeface="Calibri (MS) Italics"/>
                <a:sym typeface="Calibri (MS) Italics"/>
              </a:rPr>
              <a:t>Figure 6: Electrostatic dust removal showing particles levitated and removed by a traveling electric field.</a:t>
            </a:r>
          </a:p>
        </p:txBody>
      </p:sp>
      <p:grpSp>
        <p:nvGrpSpPr>
          <p:cNvPr id="20" name="Group 20"/>
          <p:cNvGrpSpPr/>
          <p:nvPr/>
        </p:nvGrpSpPr>
        <p:grpSpPr>
          <a:xfrm>
            <a:off x="850106" y="9351169"/>
            <a:ext cx="16587788" cy="28575"/>
            <a:chOff x="0" y="0"/>
            <a:chExt cx="22117050" cy="38100"/>
          </a:xfrm>
        </p:grpSpPr>
        <p:sp>
          <p:nvSpPr>
            <p:cNvPr id="21" name="Freeform 21"/>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2" name="TextBox 22"/>
          <p:cNvSpPr txBox="1"/>
          <p:nvPr/>
        </p:nvSpPr>
        <p:spPr>
          <a:xfrm>
            <a:off x="837247" y="9569291"/>
            <a:ext cx="2782777"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3" name="TextBox 23"/>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7</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grpSp>
        <p:nvGrpSpPr>
          <p:cNvPr id="4" name="Group 4"/>
          <p:cNvGrpSpPr/>
          <p:nvPr/>
        </p:nvGrpSpPr>
        <p:grpSpPr>
          <a:xfrm>
            <a:off x="13952315" y="436959"/>
            <a:ext cx="3837165" cy="915467"/>
            <a:chOff x="0" y="0"/>
            <a:chExt cx="5116220" cy="1220622"/>
          </a:xfrm>
        </p:grpSpPr>
        <p:sp>
          <p:nvSpPr>
            <p:cNvPr id="5" name="Freeform 5"/>
            <p:cNvSpPr/>
            <p:nvPr/>
          </p:nvSpPr>
          <p:spPr>
            <a:xfrm>
              <a:off x="0" y="0"/>
              <a:ext cx="5116195" cy="1220597"/>
            </a:xfrm>
            <a:custGeom>
              <a:avLst/>
              <a:gdLst/>
              <a:ahLst/>
              <a:cxnLst/>
              <a:rect l="l" t="t" r="r" b="b"/>
              <a:pathLst>
                <a:path w="5116195" h="1220597">
                  <a:moveTo>
                    <a:pt x="0" y="0"/>
                  </a:moveTo>
                  <a:lnTo>
                    <a:pt x="5116195" y="0"/>
                  </a:lnTo>
                  <a:lnTo>
                    <a:pt x="5116195" y="1220597"/>
                  </a:lnTo>
                  <a:lnTo>
                    <a:pt x="0" y="1220597"/>
                  </a:lnTo>
                  <a:lnTo>
                    <a:pt x="0" y="0"/>
                  </a:lnTo>
                  <a:close/>
                </a:path>
              </a:pathLst>
            </a:custGeom>
            <a:blipFill>
              <a:blip r:embed="rId3"/>
              <a:stretch>
                <a:fillRect b="-2"/>
              </a:stretch>
            </a:blipFill>
          </p:spPr>
        </p:sp>
      </p:grpSp>
      <p:grpSp>
        <p:nvGrpSpPr>
          <p:cNvPr id="6" name="Group 6"/>
          <p:cNvGrpSpPr/>
          <p:nvPr/>
        </p:nvGrpSpPr>
        <p:grpSpPr>
          <a:xfrm>
            <a:off x="857250" y="2700338"/>
            <a:ext cx="85725" cy="3429000"/>
            <a:chOff x="0" y="0"/>
            <a:chExt cx="114300" cy="4572000"/>
          </a:xfrm>
        </p:grpSpPr>
        <p:sp>
          <p:nvSpPr>
            <p:cNvPr id="7" name="Freeform 7"/>
            <p:cNvSpPr/>
            <p:nvPr/>
          </p:nvSpPr>
          <p:spPr>
            <a:xfrm>
              <a:off x="0" y="0"/>
              <a:ext cx="114300" cy="4572000"/>
            </a:xfrm>
            <a:custGeom>
              <a:avLst/>
              <a:gdLst/>
              <a:ahLst/>
              <a:cxnLst/>
              <a:rect l="l" t="t" r="r" b="b"/>
              <a:pathLst>
                <a:path w="114300" h="4572000">
                  <a:moveTo>
                    <a:pt x="0" y="57150"/>
                  </a:moveTo>
                  <a:cubicBezTo>
                    <a:pt x="0" y="25527"/>
                    <a:pt x="25527" y="0"/>
                    <a:pt x="57150" y="0"/>
                  </a:cubicBezTo>
                  <a:cubicBezTo>
                    <a:pt x="88773" y="0"/>
                    <a:pt x="114300" y="25527"/>
                    <a:pt x="114300" y="57150"/>
                  </a:cubicBezTo>
                  <a:lnTo>
                    <a:pt x="114300" y="4514850"/>
                  </a:lnTo>
                  <a:cubicBezTo>
                    <a:pt x="114300" y="4546473"/>
                    <a:pt x="88773" y="4572000"/>
                    <a:pt x="57150" y="4572000"/>
                  </a:cubicBezTo>
                  <a:cubicBezTo>
                    <a:pt x="25527" y="4572000"/>
                    <a:pt x="0" y="4546473"/>
                    <a:pt x="0" y="4514850"/>
                  </a:cubicBezTo>
                  <a:close/>
                </a:path>
              </a:pathLst>
            </a:custGeom>
            <a:solidFill>
              <a:srgbClr val="002B60"/>
            </a:solidFill>
          </p:spPr>
        </p:sp>
      </p:grpSp>
      <p:sp>
        <p:nvSpPr>
          <p:cNvPr id="8" name="TextBox 8"/>
          <p:cNvSpPr txBox="1"/>
          <p:nvPr/>
        </p:nvSpPr>
        <p:spPr>
          <a:xfrm>
            <a:off x="1337224" y="2729865"/>
            <a:ext cx="5223510" cy="1491615"/>
          </a:xfrm>
          <a:prstGeom prst="rect">
            <a:avLst/>
          </a:prstGeom>
        </p:spPr>
        <p:txBody>
          <a:bodyPr lIns="0" tIns="0" rIns="0" bIns="0" rtlCol="0" anchor="t">
            <a:spAutoFit/>
          </a:bodyPr>
          <a:lstStyle/>
          <a:p>
            <a:pPr algn="l">
              <a:lnSpc>
                <a:spcPts val="8640"/>
              </a:lnSpc>
            </a:pPr>
            <a:r>
              <a:rPr lang="en-US" sz="7200" b="1">
                <a:gradFill>
                  <a:gsLst>
                    <a:gs pos="0">
                      <a:srgbClr val="002B60">
                        <a:alpha val="100000"/>
                      </a:srgbClr>
                    </a:gs>
                    <a:gs pos="100000">
                      <a:srgbClr val="0070C0">
                        <a:alpha val="100000"/>
                      </a:srgbClr>
                    </a:gs>
                  </a:gsLst>
                  <a:lin ang="0"/>
                </a:gradFill>
                <a:latin typeface="Arial Bold"/>
                <a:ea typeface="Arial Bold"/>
                <a:cs typeface="Arial Bold"/>
                <a:sym typeface="Arial Bold"/>
              </a:rPr>
              <a:t>Thank You!</a:t>
            </a:r>
          </a:p>
        </p:txBody>
      </p:sp>
      <p:sp>
        <p:nvSpPr>
          <p:cNvPr id="9" name="TextBox 9"/>
          <p:cNvSpPr txBox="1"/>
          <p:nvPr/>
        </p:nvSpPr>
        <p:spPr>
          <a:xfrm>
            <a:off x="1337224" y="4597717"/>
            <a:ext cx="5560524" cy="798195"/>
          </a:xfrm>
          <a:prstGeom prst="rect">
            <a:avLst/>
          </a:prstGeom>
        </p:spPr>
        <p:txBody>
          <a:bodyPr lIns="0" tIns="0" rIns="0" bIns="0" rtlCol="0" anchor="t">
            <a:spAutoFit/>
          </a:bodyPr>
          <a:lstStyle/>
          <a:p>
            <a:pPr algn="l">
              <a:lnSpc>
                <a:spcPts val="4320"/>
              </a:lnSpc>
            </a:pPr>
            <a:r>
              <a:rPr lang="en-US" sz="3600" b="1">
                <a:solidFill>
                  <a:srgbClr val="0070C0"/>
                </a:solidFill>
                <a:latin typeface="Calibri (MS) Bold"/>
                <a:ea typeface="Calibri (MS) Bold"/>
                <a:cs typeface="Calibri (MS) Bold"/>
                <a:sym typeface="Calibri (MS) Bold"/>
              </a:rPr>
              <a:t>Questions &amp; Comments</a:t>
            </a:r>
          </a:p>
        </p:txBody>
      </p:sp>
      <p:grpSp>
        <p:nvGrpSpPr>
          <p:cNvPr id="10" name="Group 10"/>
          <p:cNvGrpSpPr/>
          <p:nvPr/>
        </p:nvGrpSpPr>
        <p:grpSpPr>
          <a:xfrm>
            <a:off x="1214438" y="5843588"/>
            <a:ext cx="7858125" cy="28575"/>
            <a:chOff x="0" y="0"/>
            <a:chExt cx="10477500" cy="38100"/>
          </a:xfrm>
        </p:grpSpPr>
        <p:sp>
          <p:nvSpPr>
            <p:cNvPr id="11" name="Freeform 11"/>
            <p:cNvSpPr/>
            <p:nvPr/>
          </p:nvSpPr>
          <p:spPr>
            <a:xfrm>
              <a:off x="0" y="0"/>
              <a:ext cx="10477500" cy="38100"/>
            </a:xfrm>
            <a:custGeom>
              <a:avLst/>
              <a:gdLst/>
              <a:ahLst/>
              <a:cxnLst/>
              <a:rect l="l" t="t" r="r" b="b"/>
              <a:pathLst>
                <a:path w="10477500" h="38100">
                  <a:moveTo>
                    <a:pt x="0" y="0"/>
                  </a:moveTo>
                  <a:lnTo>
                    <a:pt x="10477500" y="0"/>
                  </a:lnTo>
                  <a:lnTo>
                    <a:pt x="10477500" y="38100"/>
                  </a:lnTo>
                  <a:lnTo>
                    <a:pt x="0" y="38100"/>
                  </a:lnTo>
                  <a:close/>
                </a:path>
              </a:pathLst>
            </a:custGeom>
            <a:gradFill rotWithShape="1">
              <a:gsLst>
                <a:gs pos="0">
                  <a:srgbClr val="002B60">
                    <a:alpha val="100000"/>
                  </a:srgbClr>
                </a:gs>
                <a:gs pos="100000">
                  <a:srgbClr val="002B60">
                    <a:alpha val="0"/>
                  </a:srgbClr>
                </a:gs>
              </a:gsLst>
              <a:lin ang="0"/>
            </a:gradFill>
          </p:spPr>
        </p:sp>
      </p:grpSp>
      <p:grpSp>
        <p:nvGrpSpPr>
          <p:cNvPr id="12" name="Group 12"/>
          <p:cNvGrpSpPr/>
          <p:nvPr/>
        </p:nvGrpSpPr>
        <p:grpSpPr>
          <a:xfrm>
            <a:off x="10932796" y="2758440"/>
            <a:ext cx="5323865" cy="5219921"/>
            <a:chOff x="0" y="0"/>
            <a:chExt cx="8382000" cy="8218348"/>
          </a:xfrm>
        </p:grpSpPr>
        <p:sp>
          <p:nvSpPr>
            <p:cNvPr id="13" name="Freeform 13"/>
            <p:cNvSpPr/>
            <p:nvPr/>
          </p:nvSpPr>
          <p:spPr>
            <a:xfrm>
              <a:off x="0" y="0"/>
              <a:ext cx="8382000" cy="8218297"/>
            </a:xfrm>
            <a:custGeom>
              <a:avLst/>
              <a:gdLst/>
              <a:ahLst/>
              <a:cxnLst/>
              <a:rect l="l" t="t" r="r" b="b"/>
              <a:pathLst>
                <a:path w="8382000" h="8218297">
                  <a:moveTo>
                    <a:pt x="0" y="0"/>
                  </a:moveTo>
                  <a:lnTo>
                    <a:pt x="8382000" y="0"/>
                  </a:lnTo>
                  <a:lnTo>
                    <a:pt x="8382000" y="8218297"/>
                  </a:lnTo>
                  <a:lnTo>
                    <a:pt x="0" y="8218297"/>
                  </a:lnTo>
                  <a:lnTo>
                    <a:pt x="0" y="0"/>
                  </a:lnTo>
                  <a:close/>
                </a:path>
              </a:pathLst>
            </a:custGeom>
            <a:blipFill>
              <a:blip r:embed="rId4"/>
              <a:stretch>
                <a:fillRect/>
              </a:stretch>
            </a:blipFill>
          </p:spPr>
        </p:sp>
      </p:grpSp>
      <p:sp>
        <p:nvSpPr>
          <p:cNvPr id="14" name="TextBox 14"/>
          <p:cNvSpPr txBox="1"/>
          <p:nvPr/>
        </p:nvSpPr>
        <p:spPr>
          <a:xfrm>
            <a:off x="1214438" y="7375921"/>
            <a:ext cx="4550834" cy="523875"/>
          </a:xfrm>
          <a:prstGeom prst="rect">
            <a:avLst/>
          </a:prstGeom>
        </p:spPr>
        <p:txBody>
          <a:bodyPr lIns="0" tIns="0" rIns="0" bIns="0" rtlCol="0" anchor="t">
            <a:spAutoFit/>
          </a:bodyPr>
          <a:lstStyle/>
          <a:p>
            <a:pPr algn="l">
              <a:lnSpc>
                <a:spcPts val="3600"/>
              </a:lnSpc>
            </a:pPr>
            <a:r>
              <a:rPr lang="en-US" sz="3000" b="1">
                <a:solidFill>
                  <a:srgbClr val="242424"/>
                </a:solidFill>
                <a:latin typeface="Calibri (MS) Bold"/>
                <a:ea typeface="Calibri (MS) Bold"/>
                <a:cs typeface="Calibri (MS) Bold"/>
                <a:sym typeface="Calibri (MS) Bold"/>
              </a:rPr>
              <a:t>Presenter: Group 5</a:t>
            </a:r>
          </a:p>
        </p:txBody>
      </p:sp>
      <p:sp>
        <p:nvSpPr>
          <p:cNvPr id="15" name="TextBox 15"/>
          <p:cNvSpPr txBox="1"/>
          <p:nvPr/>
        </p:nvSpPr>
        <p:spPr>
          <a:xfrm>
            <a:off x="1214438" y="7953918"/>
            <a:ext cx="4533271" cy="523875"/>
          </a:xfrm>
          <a:prstGeom prst="rect">
            <a:avLst/>
          </a:prstGeom>
        </p:spPr>
        <p:txBody>
          <a:bodyPr lIns="0" tIns="0" rIns="0" bIns="0" rtlCol="0" anchor="t">
            <a:spAutoFit/>
          </a:bodyPr>
          <a:lstStyle/>
          <a:p>
            <a:pPr algn="l">
              <a:lnSpc>
                <a:spcPts val="3600"/>
              </a:lnSpc>
            </a:pPr>
            <a:r>
              <a:rPr lang="en-US" sz="3000" b="1">
                <a:solidFill>
                  <a:srgbClr val="242424"/>
                </a:solidFill>
                <a:latin typeface="Calibri (MS) Bold"/>
                <a:ea typeface="Calibri (MS) Bold"/>
                <a:cs typeface="Calibri (MS) Bold"/>
                <a:sym typeface="Calibri (MS) Bold"/>
              </a:rPr>
              <a:t>Group Name: six gentlemen</a:t>
            </a:r>
          </a:p>
        </p:txBody>
      </p:sp>
      <p:sp>
        <p:nvSpPr>
          <p:cNvPr id="16" name="TextBox 16"/>
          <p:cNvSpPr txBox="1"/>
          <p:nvPr/>
        </p:nvSpPr>
        <p:spPr>
          <a:xfrm>
            <a:off x="1214438" y="8707993"/>
            <a:ext cx="7468076" cy="428625"/>
          </a:xfrm>
          <a:prstGeom prst="rect">
            <a:avLst/>
          </a:prstGeom>
        </p:spPr>
        <p:txBody>
          <a:bodyPr lIns="0" tIns="0" rIns="0" bIns="0" rtlCol="0" anchor="t">
            <a:spAutoFit/>
          </a:bodyPr>
          <a:lstStyle/>
          <a:p>
            <a:pPr algn="l">
              <a:lnSpc>
                <a:spcPts val="3059"/>
              </a:lnSpc>
            </a:pPr>
            <a:r>
              <a:rPr lang="en-US" sz="2549">
                <a:solidFill>
                  <a:srgbClr val="5E6A75"/>
                </a:solidFill>
                <a:latin typeface="Calibri (MS)"/>
                <a:ea typeface="Calibri (MS)"/>
                <a:cs typeface="Calibri (MS)"/>
                <a:sym typeface="Calibri (MS)"/>
              </a:rPr>
              <a:t>SJTU Global College — Technical Communication Pitch</a:t>
            </a:r>
          </a:p>
        </p:txBody>
      </p:sp>
      <p:sp>
        <p:nvSpPr>
          <p:cNvPr id="17" name="TextBox 17"/>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8</a:t>
            </a:r>
          </a:p>
        </p:txBody>
      </p:sp>
      <p:sp>
        <p:nvSpPr>
          <p:cNvPr id="18" name="TextBox 18"/>
          <p:cNvSpPr txBox="1"/>
          <p:nvPr/>
        </p:nvSpPr>
        <p:spPr>
          <a:xfrm>
            <a:off x="1214438" y="6253163"/>
            <a:ext cx="3907895" cy="523875"/>
          </a:xfrm>
          <a:prstGeom prst="rect">
            <a:avLst/>
          </a:prstGeom>
        </p:spPr>
        <p:txBody>
          <a:bodyPr lIns="0" tIns="0" rIns="0" bIns="0" rtlCol="0" anchor="t">
            <a:spAutoFit/>
          </a:bodyPr>
          <a:lstStyle/>
          <a:p>
            <a:pPr algn="l">
              <a:lnSpc>
                <a:spcPts val="3600"/>
              </a:lnSpc>
            </a:pPr>
            <a:r>
              <a:rPr lang="en-US" sz="3000" b="1">
                <a:solidFill>
                  <a:srgbClr val="242424"/>
                </a:solidFill>
                <a:latin typeface="Calibri (MS) Bold"/>
                <a:ea typeface="Calibri (MS) Bold"/>
                <a:cs typeface="Calibri (MS) Bold"/>
                <a:sym typeface="Calibri (MS) Bold"/>
              </a:rPr>
              <a:t>Course: ENGR1000J</a:t>
            </a:r>
          </a:p>
        </p:txBody>
      </p:sp>
      <p:sp>
        <p:nvSpPr>
          <p:cNvPr id="19" name="TextBox 19"/>
          <p:cNvSpPr txBox="1"/>
          <p:nvPr/>
        </p:nvSpPr>
        <p:spPr>
          <a:xfrm>
            <a:off x="1214438" y="6814542"/>
            <a:ext cx="5708124" cy="523875"/>
          </a:xfrm>
          <a:prstGeom prst="rect">
            <a:avLst/>
          </a:prstGeom>
        </p:spPr>
        <p:txBody>
          <a:bodyPr lIns="0" tIns="0" rIns="0" bIns="0" rtlCol="0" anchor="t">
            <a:spAutoFit/>
          </a:bodyPr>
          <a:lstStyle/>
          <a:p>
            <a:pPr algn="l">
              <a:lnSpc>
                <a:spcPts val="3600"/>
              </a:lnSpc>
            </a:pPr>
            <a:r>
              <a:rPr lang="en-US" sz="3000" b="1">
                <a:solidFill>
                  <a:srgbClr val="242424"/>
                </a:solidFill>
                <a:latin typeface="Calibri (MS) Bold"/>
                <a:ea typeface="Calibri (MS) Bold"/>
                <a:cs typeface="Calibri (MS) Bold"/>
                <a:sym typeface="Calibri (MS) Bold"/>
              </a:rPr>
              <a:t>Instructor: Prof Shen &amp; Prof Wei</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A60CD-7AC7-C13C-9ACA-ADFC5486725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61C43A-5D22-8355-8723-722AE47A067D}"/>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ED36EDCE-16B6-E920-C2ED-D81AEDEDC01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FFFFFF">
                    <a:alpha val="100000"/>
                  </a:srgbClr>
                </a:gs>
                <a:gs pos="100000">
                  <a:srgbClr val="F3F7FA">
                    <a:alpha val="100000"/>
                  </a:srgbClr>
                </a:gs>
              </a:gsLst>
              <a:lin ang="3638535"/>
            </a:gradFill>
          </p:spPr>
        </p:sp>
      </p:grpSp>
      <p:sp>
        <p:nvSpPr>
          <p:cNvPr id="4" name="TextBox 4">
            <a:extLst>
              <a:ext uri="{FF2B5EF4-FFF2-40B4-BE49-F238E27FC236}">
                <a16:creationId xmlns:a16="http://schemas.microsoft.com/office/drawing/2014/main" id="{58B29E8A-213B-AB72-0C3D-1CAC70386B4E}"/>
              </a:ext>
            </a:extLst>
          </p:cNvPr>
          <p:cNvSpPr txBox="1"/>
          <p:nvPr/>
        </p:nvSpPr>
        <p:spPr>
          <a:xfrm>
            <a:off x="800100" y="557213"/>
            <a:ext cx="13251447" cy="714375"/>
          </a:xfrm>
          <a:prstGeom prst="rect">
            <a:avLst/>
          </a:prstGeom>
        </p:spPr>
        <p:txBody>
          <a:bodyPr lIns="0" tIns="0" rIns="0" bIns="0" rtlCol="0" anchor="t">
            <a:spAutoFit/>
          </a:bodyPr>
          <a:lstStyle/>
          <a:p>
            <a:pPr algn="l">
              <a:lnSpc>
                <a:spcPts val="5400"/>
              </a:lnSpc>
            </a:pPr>
            <a:r>
              <a:rPr lang="en-US" sz="4500" b="1">
                <a:solidFill>
                  <a:srgbClr val="002B60"/>
                </a:solidFill>
                <a:latin typeface="Arial Bold"/>
                <a:ea typeface="Arial Bold"/>
                <a:cs typeface="Arial Bold"/>
                <a:sym typeface="Arial Bold"/>
              </a:rPr>
              <a:t>Six Innovative Space Exploration Concepts</a:t>
            </a:r>
          </a:p>
        </p:txBody>
      </p:sp>
      <p:grpSp>
        <p:nvGrpSpPr>
          <p:cNvPr id="5" name="Group 5">
            <a:extLst>
              <a:ext uri="{FF2B5EF4-FFF2-40B4-BE49-F238E27FC236}">
                <a16:creationId xmlns:a16="http://schemas.microsoft.com/office/drawing/2014/main" id="{F74127B5-0425-5DC7-6485-D03C120A399E}"/>
              </a:ext>
            </a:extLst>
          </p:cNvPr>
          <p:cNvGrpSpPr/>
          <p:nvPr/>
        </p:nvGrpSpPr>
        <p:grpSpPr>
          <a:xfrm>
            <a:off x="846534" y="1489472"/>
            <a:ext cx="16594931" cy="35719"/>
            <a:chOff x="0" y="0"/>
            <a:chExt cx="22126575" cy="47625"/>
          </a:xfrm>
        </p:grpSpPr>
        <p:sp>
          <p:nvSpPr>
            <p:cNvPr id="6" name="Freeform 6">
              <a:extLst>
                <a:ext uri="{FF2B5EF4-FFF2-40B4-BE49-F238E27FC236}">
                  <a16:creationId xmlns:a16="http://schemas.microsoft.com/office/drawing/2014/main" id="{F83E71CA-A6FA-5BFF-EC0B-FAEAF685F336}"/>
                </a:ext>
              </a:extLst>
            </p:cNvPr>
            <p:cNvSpPr/>
            <p:nvPr/>
          </p:nvSpPr>
          <p:spPr>
            <a:xfrm>
              <a:off x="0" y="0"/>
              <a:ext cx="22126575" cy="0"/>
            </a:xfrm>
            <a:custGeom>
              <a:avLst/>
              <a:gdLst/>
              <a:ahLst/>
              <a:cxnLst/>
              <a:rect l="l" t="t" r="r" b="b"/>
              <a:pathLst>
                <a:path w="22126575">
                  <a:moveTo>
                    <a:pt x="0" y="0"/>
                  </a:moveTo>
                  <a:lnTo>
                    <a:pt x="22126575" y="0"/>
                  </a:lnTo>
                </a:path>
              </a:pathLst>
            </a:custGeom>
            <a:blipFill>
              <a:blip r:embed="rId3">
                <a:alphaModFix amt="0"/>
              </a:blip>
              <a:stretch>
                <a:fillRect t="-2147483648" b="-2147483648"/>
              </a:stretch>
            </a:blipFill>
            <a:ln w="21432" cap="sq">
              <a:solidFill>
                <a:srgbClr val="E5E7EB"/>
              </a:solidFill>
              <a:prstDash val="solid"/>
              <a:miter/>
            </a:ln>
          </p:spPr>
        </p:sp>
      </p:grpSp>
      <p:grpSp>
        <p:nvGrpSpPr>
          <p:cNvPr id="7" name="Group 7">
            <a:extLst>
              <a:ext uri="{FF2B5EF4-FFF2-40B4-BE49-F238E27FC236}">
                <a16:creationId xmlns:a16="http://schemas.microsoft.com/office/drawing/2014/main" id="{FB07B789-375B-7668-622D-2B7C8D117E98}"/>
              </a:ext>
            </a:extLst>
          </p:cNvPr>
          <p:cNvGrpSpPr/>
          <p:nvPr/>
        </p:nvGrpSpPr>
        <p:grpSpPr>
          <a:xfrm>
            <a:off x="13758653" y="369065"/>
            <a:ext cx="3968563" cy="946814"/>
            <a:chOff x="0" y="0"/>
            <a:chExt cx="5291417" cy="1262418"/>
          </a:xfrm>
        </p:grpSpPr>
        <p:sp>
          <p:nvSpPr>
            <p:cNvPr id="8" name="Freeform 8">
              <a:extLst>
                <a:ext uri="{FF2B5EF4-FFF2-40B4-BE49-F238E27FC236}">
                  <a16:creationId xmlns:a16="http://schemas.microsoft.com/office/drawing/2014/main" id="{1D5A869D-3E76-9DB1-DC2D-2E4B434A3166}"/>
                </a:ext>
              </a:extLst>
            </p:cNvPr>
            <p:cNvSpPr/>
            <p:nvPr/>
          </p:nvSpPr>
          <p:spPr>
            <a:xfrm>
              <a:off x="0" y="0"/>
              <a:ext cx="5291455" cy="1262380"/>
            </a:xfrm>
            <a:custGeom>
              <a:avLst/>
              <a:gdLst/>
              <a:ahLst/>
              <a:cxnLst/>
              <a:rect l="l" t="t" r="r" b="b"/>
              <a:pathLst>
                <a:path w="5291455" h="1262380">
                  <a:moveTo>
                    <a:pt x="0" y="0"/>
                  </a:moveTo>
                  <a:lnTo>
                    <a:pt x="5291455" y="0"/>
                  </a:lnTo>
                  <a:lnTo>
                    <a:pt x="5291455" y="1262380"/>
                  </a:lnTo>
                  <a:lnTo>
                    <a:pt x="0" y="1262380"/>
                  </a:lnTo>
                  <a:lnTo>
                    <a:pt x="0" y="0"/>
                  </a:lnTo>
                  <a:close/>
                </a:path>
              </a:pathLst>
            </a:custGeom>
            <a:blipFill>
              <a:blip r:embed="rId4"/>
              <a:stretch>
                <a:fillRect b="-3"/>
              </a:stretch>
            </a:blipFill>
          </p:spPr>
        </p:sp>
      </p:grpSp>
      <p:grpSp>
        <p:nvGrpSpPr>
          <p:cNvPr id="9" name="Group 9">
            <a:extLst>
              <a:ext uri="{FF2B5EF4-FFF2-40B4-BE49-F238E27FC236}">
                <a16:creationId xmlns:a16="http://schemas.microsoft.com/office/drawing/2014/main" id="{CBCF58AA-3EFE-4A65-A23C-279208FC70AE}"/>
              </a:ext>
            </a:extLst>
          </p:cNvPr>
          <p:cNvGrpSpPr/>
          <p:nvPr/>
        </p:nvGrpSpPr>
        <p:grpSpPr>
          <a:xfrm>
            <a:off x="857250" y="1714500"/>
            <a:ext cx="16573500" cy="714375"/>
            <a:chOff x="0" y="0"/>
            <a:chExt cx="22098000" cy="952500"/>
          </a:xfrm>
        </p:grpSpPr>
        <p:sp>
          <p:nvSpPr>
            <p:cNvPr id="10" name="Freeform 10">
              <a:extLst>
                <a:ext uri="{FF2B5EF4-FFF2-40B4-BE49-F238E27FC236}">
                  <a16:creationId xmlns:a16="http://schemas.microsoft.com/office/drawing/2014/main" id="{403AF669-4E80-9C29-85C6-7F11F22B5638}"/>
                </a:ext>
              </a:extLst>
            </p:cNvPr>
            <p:cNvSpPr/>
            <p:nvPr/>
          </p:nvSpPr>
          <p:spPr>
            <a:xfrm>
              <a:off x="0" y="0"/>
              <a:ext cx="22098000" cy="952500"/>
            </a:xfrm>
            <a:custGeom>
              <a:avLst/>
              <a:gdLst/>
              <a:ahLst/>
              <a:cxnLst/>
              <a:rect l="l" t="t" r="r" b="b"/>
              <a:pathLst>
                <a:path w="22098000" h="952500">
                  <a:moveTo>
                    <a:pt x="0" y="114300"/>
                  </a:moveTo>
                  <a:cubicBezTo>
                    <a:pt x="0" y="51181"/>
                    <a:pt x="51181" y="0"/>
                    <a:pt x="114300" y="0"/>
                  </a:cubicBezTo>
                  <a:lnTo>
                    <a:pt x="21983700" y="0"/>
                  </a:lnTo>
                  <a:cubicBezTo>
                    <a:pt x="22046819" y="0"/>
                    <a:pt x="22098000" y="51181"/>
                    <a:pt x="22098000" y="114300"/>
                  </a:cubicBezTo>
                  <a:lnTo>
                    <a:pt x="22098000" y="838200"/>
                  </a:lnTo>
                  <a:cubicBezTo>
                    <a:pt x="22098000" y="901319"/>
                    <a:pt x="22046819" y="952500"/>
                    <a:pt x="21983700" y="952500"/>
                  </a:cubicBezTo>
                  <a:lnTo>
                    <a:pt x="114300" y="952500"/>
                  </a:lnTo>
                  <a:cubicBezTo>
                    <a:pt x="51181" y="952500"/>
                    <a:pt x="0" y="901319"/>
                    <a:pt x="0" y="838200"/>
                  </a:cubicBezTo>
                  <a:close/>
                </a:path>
              </a:pathLst>
            </a:custGeom>
            <a:solidFill>
              <a:srgbClr val="002B60">
                <a:alpha val="0"/>
              </a:srgbClr>
            </a:solidFill>
          </p:spPr>
        </p:sp>
      </p:grpSp>
      <p:sp>
        <p:nvSpPr>
          <p:cNvPr id="11" name="TextBox 11">
            <a:extLst>
              <a:ext uri="{FF2B5EF4-FFF2-40B4-BE49-F238E27FC236}">
                <a16:creationId xmlns:a16="http://schemas.microsoft.com/office/drawing/2014/main" id="{F6EAE72D-6A8A-EC2E-44A6-0EBB32C524AE}"/>
              </a:ext>
            </a:extLst>
          </p:cNvPr>
          <p:cNvSpPr txBox="1"/>
          <p:nvPr/>
        </p:nvSpPr>
        <p:spPr>
          <a:xfrm>
            <a:off x="1108710" y="1813560"/>
            <a:ext cx="19178864" cy="485775"/>
          </a:xfrm>
          <a:prstGeom prst="rect">
            <a:avLst/>
          </a:prstGeom>
        </p:spPr>
        <p:txBody>
          <a:bodyPr lIns="0" tIns="0" rIns="0" bIns="0" rtlCol="0" anchor="t">
            <a:spAutoFit/>
          </a:bodyPr>
          <a:lstStyle/>
          <a:p>
            <a:pPr algn="l">
              <a:lnSpc>
                <a:spcPts val="3359"/>
              </a:lnSpc>
            </a:pPr>
            <a:r>
              <a:rPr lang="en-US" sz="2799" b="1">
                <a:solidFill>
                  <a:srgbClr val="002B60"/>
                </a:solidFill>
                <a:latin typeface="Calibri (MS) Bold"/>
                <a:ea typeface="Calibri (MS) Bold"/>
                <a:cs typeface="Calibri (MS) Bold"/>
                <a:sym typeface="Calibri (MS) Bold"/>
              </a:rPr>
              <a:t>Overview: Five specialized subsystems engineered to address critical environmental challenges on Mars</a:t>
            </a:r>
          </a:p>
        </p:txBody>
      </p:sp>
      <p:sp>
        <p:nvSpPr>
          <p:cNvPr id="12" name="TextBox 12">
            <a:extLst>
              <a:ext uri="{FF2B5EF4-FFF2-40B4-BE49-F238E27FC236}">
                <a16:creationId xmlns:a16="http://schemas.microsoft.com/office/drawing/2014/main" id="{3B7CBA22-2548-4D51-6792-DC31901A85D0}"/>
              </a:ext>
            </a:extLst>
          </p:cNvPr>
          <p:cNvSpPr txBox="1"/>
          <p:nvPr/>
        </p:nvSpPr>
        <p:spPr>
          <a:xfrm>
            <a:off x="1028700" y="4895850"/>
            <a:ext cx="7384780"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02 | Self-Stabilizing Landing Platform</a:t>
            </a:r>
          </a:p>
        </p:txBody>
      </p:sp>
      <p:sp>
        <p:nvSpPr>
          <p:cNvPr id="13" name="TextBox 13">
            <a:extLst>
              <a:ext uri="{FF2B5EF4-FFF2-40B4-BE49-F238E27FC236}">
                <a16:creationId xmlns:a16="http://schemas.microsoft.com/office/drawing/2014/main" id="{AF694076-37E5-8D7D-A881-0773E1281F7E}"/>
              </a:ext>
            </a:extLst>
          </p:cNvPr>
          <p:cNvSpPr txBox="1"/>
          <p:nvPr/>
        </p:nvSpPr>
        <p:spPr>
          <a:xfrm>
            <a:off x="1028700" y="5495925"/>
            <a:ext cx="7873384" cy="952500"/>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Active-leveling landing legs to prevent spacecraft tipping.</a:t>
            </a:r>
          </a:p>
        </p:txBody>
      </p:sp>
      <p:sp>
        <p:nvSpPr>
          <p:cNvPr id="14" name="TextBox 14">
            <a:extLst>
              <a:ext uri="{FF2B5EF4-FFF2-40B4-BE49-F238E27FC236}">
                <a16:creationId xmlns:a16="http://schemas.microsoft.com/office/drawing/2014/main" id="{B38B0EA0-8E50-8565-0F52-39C97CE3F5A4}"/>
              </a:ext>
            </a:extLst>
          </p:cNvPr>
          <p:cNvSpPr txBox="1"/>
          <p:nvPr/>
        </p:nvSpPr>
        <p:spPr>
          <a:xfrm>
            <a:off x="9445178" y="2857500"/>
            <a:ext cx="7362446"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04 | Adaptive Robotic Arm Gripper</a:t>
            </a:r>
          </a:p>
        </p:txBody>
      </p:sp>
      <p:sp>
        <p:nvSpPr>
          <p:cNvPr id="15" name="TextBox 15">
            <a:extLst>
              <a:ext uri="{FF2B5EF4-FFF2-40B4-BE49-F238E27FC236}">
                <a16:creationId xmlns:a16="http://schemas.microsoft.com/office/drawing/2014/main" id="{D6AD550A-3C47-CD64-2C59-6584013BCF75}"/>
              </a:ext>
            </a:extLst>
          </p:cNvPr>
          <p:cNvSpPr txBox="1"/>
          <p:nvPr/>
        </p:nvSpPr>
        <p:spPr>
          <a:xfrm>
            <a:off x="9544557" y="3437572"/>
            <a:ext cx="9303734" cy="504825"/>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Soft-robotic claw conforming to irregular minerals.</a:t>
            </a:r>
          </a:p>
        </p:txBody>
      </p:sp>
      <p:sp>
        <p:nvSpPr>
          <p:cNvPr id="16" name="TextBox 16">
            <a:extLst>
              <a:ext uri="{FF2B5EF4-FFF2-40B4-BE49-F238E27FC236}">
                <a16:creationId xmlns:a16="http://schemas.microsoft.com/office/drawing/2014/main" id="{7B6AEFA2-5623-96CB-6ABC-D2EEA3B75621}"/>
              </a:ext>
            </a:extLst>
          </p:cNvPr>
          <p:cNvSpPr txBox="1"/>
          <p:nvPr/>
        </p:nvSpPr>
        <p:spPr>
          <a:xfrm>
            <a:off x="1028700" y="2847022"/>
            <a:ext cx="8339158"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01 | Deep Space Thermal Control System</a:t>
            </a:r>
          </a:p>
        </p:txBody>
      </p:sp>
      <p:sp>
        <p:nvSpPr>
          <p:cNvPr id="17" name="TextBox 17">
            <a:extLst>
              <a:ext uri="{FF2B5EF4-FFF2-40B4-BE49-F238E27FC236}">
                <a16:creationId xmlns:a16="http://schemas.microsoft.com/office/drawing/2014/main" id="{454EC0E0-5E1B-820A-DF94-DC17DF246E3A}"/>
              </a:ext>
            </a:extLst>
          </p:cNvPr>
          <p:cNvSpPr txBox="1"/>
          <p:nvPr/>
        </p:nvSpPr>
        <p:spPr>
          <a:xfrm>
            <a:off x="1028700" y="3466147"/>
            <a:ext cx="8835672" cy="952500"/>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Closed-loop PID loops maintaining internal instrumentation.</a:t>
            </a:r>
          </a:p>
        </p:txBody>
      </p:sp>
      <p:sp>
        <p:nvSpPr>
          <p:cNvPr id="18" name="TextBox 18">
            <a:extLst>
              <a:ext uri="{FF2B5EF4-FFF2-40B4-BE49-F238E27FC236}">
                <a16:creationId xmlns:a16="http://schemas.microsoft.com/office/drawing/2014/main" id="{4FA9E3A0-B58C-70C0-66E4-CA6D64A035A0}"/>
              </a:ext>
            </a:extLst>
          </p:cNvPr>
          <p:cNvSpPr txBox="1"/>
          <p:nvPr/>
        </p:nvSpPr>
        <p:spPr>
          <a:xfrm>
            <a:off x="9445178" y="4881562"/>
            <a:ext cx="8892125"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05 | Deployable Communication Relays</a:t>
            </a:r>
          </a:p>
        </p:txBody>
      </p:sp>
      <p:sp>
        <p:nvSpPr>
          <p:cNvPr id="19" name="TextBox 19">
            <a:extLst>
              <a:ext uri="{FF2B5EF4-FFF2-40B4-BE49-F238E27FC236}">
                <a16:creationId xmlns:a16="http://schemas.microsoft.com/office/drawing/2014/main" id="{84F57001-AC6C-2BC0-2D6C-12F136747BB1}"/>
              </a:ext>
            </a:extLst>
          </p:cNvPr>
          <p:cNvSpPr txBox="1"/>
          <p:nvPr/>
        </p:nvSpPr>
        <p:spPr>
          <a:xfrm>
            <a:off x="9544557" y="5495925"/>
            <a:ext cx="9159716" cy="504825"/>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Micro launcher bridging signals over steep canyons.</a:t>
            </a:r>
          </a:p>
        </p:txBody>
      </p:sp>
      <p:sp>
        <p:nvSpPr>
          <p:cNvPr id="20" name="TextBox 20">
            <a:extLst>
              <a:ext uri="{FF2B5EF4-FFF2-40B4-BE49-F238E27FC236}">
                <a16:creationId xmlns:a16="http://schemas.microsoft.com/office/drawing/2014/main" id="{E63FBFF3-B126-CAF5-DE23-E99C96F98388}"/>
              </a:ext>
            </a:extLst>
          </p:cNvPr>
          <p:cNvSpPr txBox="1"/>
          <p:nvPr/>
        </p:nvSpPr>
        <p:spPr>
          <a:xfrm>
            <a:off x="1028700" y="6667500"/>
            <a:ext cx="7569079"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03 | Quadrupedal Wheeled Mars Rover</a:t>
            </a:r>
          </a:p>
        </p:txBody>
      </p:sp>
      <p:sp>
        <p:nvSpPr>
          <p:cNvPr id="21" name="TextBox 21">
            <a:extLst>
              <a:ext uri="{FF2B5EF4-FFF2-40B4-BE49-F238E27FC236}">
                <a16:creationId xmlns:a16="http://schemas.microsoft.com/office/drawing/2014/main" id="{C852851B-1A6C-B9CB-5367-1F4E02DD1ADC}"/>
              </a:ext>
            </a:extLst>
          </p:cNvPr>
          <p:cNvSpPr txBox="1"/>
          <p:nvPr/>
        </p:nvSpPr>
        <p:spPr>
          <a:xfrm>
            <a:off x="9544557" y="7477125"/>
            <a:ext cx="9393746" cy="504825"/>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Dynamic traveling electric fields clearing panel dust.</a:t>
            </a:r>
          </a:p>
        </p:txBody>
      </p:sp>
      <p:grpSp>
        <p:nvGrpSpPr>
          <p:cNvPr id="22" name="Group 22">
            <a:extLst>
              <a:ext uri="{FF2B5EF4-FFF2-40B4-BE49-F238E27FC236}">
                <a16:creationId xmlns:a16="http://schemas.microsoft.com/office/drawing/2014/main" id="{6EDF1482-87AA-EEBE-86EC-5F821E16C8FE}"/>
              </a:ext>
            </a:extLst>
          </p:cNvPr>
          <p:cNvGrpSpPr/>
          <p:nvPr/>
        </p:nvGrpSpPr>
        <p:grpSpPr>
          <a:xfrm>
            <a:off x="850106" y="9351169"/>
            <a:ext cx="16587788" cy="28575"/>
            <a:chOff x="0" y="0"/>
            <a:chExt cx="22117050" cy="38100"/>
          </a:xfrm>
        </p:grpSpPr>
        <p:sp>
          <p:nvSpPr>
            <p:cNvPr id="23" name="Freeform 23">
              <a:extLst>
                <a:ext uri="{FF2B5EF4-FFF2-40B4-BE49-F238E27FC236}">
                  <a16:creationId xmlns:a16="http://schemas.microsoft.com/office/drawing/2014/main" id="{269BC395-5918-6F97-04B6-42386B14FC18}"/>
                </a:ext>
              </a:extLst>
            </p:cNvPr>
            <p:cNvSpPr/>
            <p:nvPr/>
          </p:nvSpPr>
          <p:spPr>
            <a:xfrm>
              <a:off x="0" y="0"/>
              <a:ext cx="22117050" cy="0"/>
            </a:xfrm>
            <a:custGeom>
              <a:avLst/>
              <a:gdLst/>
              <a:ahLst/>
              <a:cxnLst/>
              <a:rect l="l" t="t" r="r" b="b"/>
              <a:pathLst>
                <a:path w="22117050">
                  <a:moveTo>
                    <a:pt x="0" y="0"/>
                  </a:moveTo>
                  <a:lnTo>
                    <a:pt x="22117050" y="0"/>
                  </a:lnTo>
                </a:path>
              </a:pathLst>
            </a:custGeom>
            <a:blipFill>
              <a:blip r:embed="rId3">
                <a:alphaModFix amt="0"/>
              </a:blip>
              <a:stretch>
                <a:fillRect t="-2147483648" b="-2147483648"/>
              </a:stretch>
            </a:blipFill>
            <a:ln w="14288" cap="sq">
              <a:solidFill>
                <a:srgbClr val="E5E7EB"/>
              </a:solidFill>
              <a:prstDash val="solid"/>
              <a:miter/>
            </a:ln>
          </p:spPr>
        </p:sp>
      </p:grpSp>
      <p:sp>
        <p:nvSpPr>
          <p:cNvPr id="24" name="TextBox 24">
            <a:extLst>
              <a:ext uri="{FF2B5EF4-FFF2-40B4-BE49-F238E27FC236}">
                <a16:creationId xmlns:a16="http://schemas.microsoft.com/office/drawing/2014/main" id="{2E6140AE-825E-B0A8-D7C0-FD2B06083039}"/>
              </a:ext>
            </a:extLst>
          </p:cNvPr>
          <p:cNvSpPr txBox="1"/>
          <p:nvPr/>
        </p:nvSpPr>
        <p:spPr>
          <a:xfrm>
            <a:off x="837247" y="9569291"/>
            <a:ext cx="2834213" cy="361950"/>
          </a:xfrm>
          <a:prstGeom prst="rect">
            <a:avLst/>
          </a:prstGeom>
        </p:spPr>
        <p:txBody>
          <a:bodyPr lIns="0" tIns="0" rIns="0" bIns="0" rtlCol="0" anchor="t">
            <a:spAutoFit/>
          </a:bodyPr>
          <a:lstStyle/>
          <a:p>
            <a:pPr algn="l">
              <a:lnSpc>
                <a:spcPts val="2520"/>
              </a:lnSpc>
            </a:pPr>
            <a:r>
              <a:rPr lang="en-US" sz="2100">
                <a:solidFill>
                  <a:srgbClr val="5E6A75"/>
                </a:solidFill>
                <a:latin typeface="Calibri (MS)"/>
                <a:ea typeface="Calibri (MS)"/>
                <a:cs typeface="Calibri (MS)"/>
                <a:sym typeface="Calibri (MS)"/>
              </a:rPr>
              <a:t>Group 5 | six gentlemen</a:t>
            </a:r>
          </a:p>
        </p:txBody>
      </p:sp>
      <p:sp>
        <p:nvSpPr>
          <p:cNvPr id="25" name="TextBox 25">
            <a:extLst>
              <a:ext uri="{FF2B5EF4-FFF2-40B4-BE49-F238E27FC236}">
                <a16:creationId xmlns:a16="http://schemas.microsoft.com/office/drawing/2014/main" id="{BF046370-4F19-41DE-339E-52D4D79AAAE1}"/>
              </a:ext>
            </a:extLst>
          </p:cNvPr>
          <p:cNvSpPr txBox="1"/>
          <p:nvPr/>
        </p:nvSpPr>
        <p:spPr>
          <a:xfrm>
            <a:off x="17295228" y="9597866"/>
            <a:ext cx="155524" cy="339090"/>
          </a:xfrm>
          <a:prstGeom prst="rect">
            <a:avLst/>
          </a:prstGeom>
        </p:spPr>
        <p:txBody>
          <a:bodyPr lIns="0" tIns="0" rIns="0" bIns="0" rtlCol="0" anchor="t">
            <a:spAutoFit/>
          </a:bodyPr>
          <a:lstStyle/>
          <a:p>
            <a:pPr algn="r">
              <a:lnSpc>
                <a:spcPts val="1889"/>
              </a:lnSpc>
            </a:pPr>
            <a:r>
              <a:rPr lang="en-US" sz="1575">
                <a:solidFill>
                  <a:srgbClr val="5E6A75"/>
                </a:solidFill>
                <a:latin typeface="Calibri (MS)"/>
                <a:ea typeface="Calibri (MS)"/>
                <a:cs typeface="Calibri (MS)"/>
                <a:sym typeface="Calibri (MS)"/>
              </a:rPr>
              <a:t>2</a:t>
            </a:r>
          </a:p>
        </p:txBody>
      </p:sp>
      <p:sp>
        <p:nvSpPr>
          <p:cNvPr id="26" name="TextBox 26">
            <a:extLst>
              <a:ext uri="{FF2B5EF4-FFF2-40B4-BE49-F238E27FC236}">
                <a16:creationId xmlns:a16="http://schemas.microsoft.com/office/drawing/2014/main" id="{6115BD25-08CA-485D-B719-1071D57F34FD}"/>
              </a:ext>
            </a:extLst>
          </p:cNvPr>
          <p:cNvSpPr txBox="1"/>
          <p:nvPr/>
        </p:nvSpPr>
        <p:spPr>
          <a:xfrm>
            <a:off x="9445178" y="6638925"/>
            <a:ext cx="7569079" cy="504825"/>
          </a:xfrm>
          <a:prstGeom prst="rect">
            <a:avLst/>
          </a:prstGeom>
        </p:spPr>
        <p:txBody>
          <a:bodyPr lIns="0" tIns="0" rIns="0" bIns="0" rtlCol="0" anchor="t">
            <a:spAutoFit/>
          </a:bodyPr>
          <a:lstStyle/>
          <a:p>
            <a:pPr algn="l">
              <a:lnSpc>
                <a:spcPts val="3869"/>
              </a:lnSpc>
            </a:pPr>
            <a:r>
              <a:rPr lang="en-US" sz="3224" b="1" u="sng">
                <a:solidFill>
                  <a:srgbClr val="002B60"/>
                </a:solidFill>
                <a:latin typeface="Arial Bold"/>
                <a:ea typeface="Arial Bold"/>
                <a:cs typeface="Arial Bold"/>
                <a:sym typeface="Arial Bold"/>
              </a:rPr>
              <a:t>06 | Electrostatic Solar Dust Remover</a:t>
            </a:r>
          </a:p>
        </p:txBody>
      </p:sp>
      <p:sp>
        <p:nvSpPr>
          <p:cNvPr id="27" name="TextBox 27">
            <a:extLst>
              <a:ext uri="{FF2B5EF4-FFF2-40B4-BE49-F238E27FC236}">
                <a16:creationId xmlns:a16="http://schemas.microsoft.com/office/drawing/2014/main" id="{F247083B-133B-6634-1171-74700D410690}"/>
              </a:ext>
            </a:extLst>
          </p:cNvPr>
          <p:cNvSpPr txBox="1"/>
          <p:nvPr/>
        </p:nvSpPr>
        <p:spPr>
          <a:xfrm>
            <a:off x="1028700" y="7305675"/>
            <a:ext cx="8416478" cy="1847850"/>
          </a:xfrm>
          <a:prstGeom prst="rect">
            <a:avLst/>
          </a:prstGeom>
        </p:spPr>
        <p:txBody>
          <a:bodyPr lIns="0" tIns="0" rIns="0" bIns="0" rtlCol="0" anchor="t">
            <a:spAutoFit/>
          </a:bodyPr>
          <a:lstStyle/>
          <a:p>
            <a:pPr algn="l">
              <a:lnSpc>
                <a:spcPts val="3599"/>
              </a:lnSpc>
            </a:pPr>
            <a:r>
              <a:rPr lang="en-US" sz="2999">
                <a:solidFill>
                  <a:srgbClr val="242424"/>
                </a:solidFill>
                <a:latin typeface="Calibri (MS)"/>
                <a:ea typeface="Calibri (MS)"/>
                <a:cs typeface="Calibri (MS)"/>
                <a:sym typeface="Calibri (MS)"/>
              </a:rPr>
              <a:t>A wheeled quadruped robot that keeps its body level on any terrain.</a:t>
            </a:r>
          </a:p>
          <a:p>
            <a:pPr algn="l">
              <a:lnSpc>
                <a:spcPts val="3599"/>
              </a:lnSpc>
            </a:pPr>
            <a:endParaRPr lang="en-US" sz="2999">
              <a:solidFill>
                <a:srgbClr val="242424"/>
              </a:solidFill>
              <a:latin typeface="Calibri (MS)"/>
              <a:ea typeface="Calibri (MS)"/>
              <a:cs typeface="Calibri (MS)"/>
              <a:sym typeface="Calibri (MS)"/>
            </a:endParaRPr>
          </a:p>
          <a:p>
            <a:pPr algn="l">
              <a:lnSpc>
                <a:spcPts val="3599"/>
              </a:lnSpc>
            </a:pPr>
            <a:endParaRPr lang="en-US" sz="2999">
              <a:solidFill>
                <a:srgbClr val="242424"/>
              </a:solidFill>
              <a:latin typeface="Calibri (MS)"/>
              <a:ea typeface="Calibri (MS)"/>
              <a:cs typeface="Calibri (MS)"/>
              <a:sym typeface="Calibri (MS)"/>
            </a:endParaRPr>
          </a:p>
        </p:txBody>
      </p:sp>
    </p:spTree>
    <p:extLst>
      <p:ext uri="{BB962C8B-B14F-4D97-AF65-F5344CB8AC3E}">
        <p14:creationId xmlns:p14="http://schemas.microsoft.com/office/powerpoint/2010/main" val="3307723191"/>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1654</Words>
  <Application>Microsoft Office PowerPoint</Application>
  <PresentationFormat>自定义</PresentationFormat>
  <Paragraphs>139</Paragraphs>
  <Slides>10</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Arial Bold</vt:lpstr>
      <vt:lpstr>Arial</vt:lpstr>
      <vt:lpstr>Calibri (MS) Bold</vt:lpstr>
      <vt:lpstr>Calibri (MS) Italics</vt:lpstr>
      <vt:lpstr>Calibri</vt:lpstr>
      <vt:lpstr>Calibri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pitch_mars_20260616.pptx</dc:title>
  <cp:lastModifiedBy>chenyuewei0715@163.com</cp:lastModifiedBy>
  <cp:revision>2</cp:revision>
  <dcterms:created xsi:type="dcterms:W3CDTF">2006-08-16T00:00:00Z</dcterms:created>
  <dcterms:modified xsi:type="dcterms:W3CDTF">2026-06-18T03:47:35Z</dcterms:modified>
  <dc:identifier>DAHMviJ8ssU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{"Label":"1","ContentProducer":"001191110105MA01AN806X00000","ProduceID":"DAHMviJ8ssU","ReservedCode1":"","ContentPropagator":"001191110105MA01AN806X00000","PropagateID":"DAHMviJ8ssU","ReservedCode2":""}</vt:lpwstr>
  </property>
</Properties>
</file>